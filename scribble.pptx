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AI365 is an add-in for classic Office on Windows. It puts a chat sidebar in Outlook, Excel, PowerPoint and Word. The three promises on this slide are what the rest of the deck explains: it runs on your own machine, your content stays there, and there is nothing to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download, one installer. You choose which of the four apps get the sidebar and can change your mind later by running the installer again. In every app the write surface is a draft the add-in cannot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land: 'local' means the AI is software on your own PC, not a website. With a local model nothing is uploaded. Be straight about the Gemini option - the model picker decides where each request goes, and a gemini-* model is the one case where a request leaves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add-in is MIT-licensed and published on GitHub. The only thing that can cost money is the model you choose to point it at - a paid cloud model bills per use, a local model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here means grounded, checkable answers rather than a promise that a model is never wrong: it reads your real content, shows you what it read, and hands back a draft you review. The hard limits - no send, no save, no delete - are enforced in code and checked by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Outlook for Windows does not load COM add-ins, so this is for classic Office. Updates are a single Update AI365 button in Settings, which refreshes all four add-ins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C24"/>
        </a:solidFill>
      </p:bgPr>
    </p:bg>
    <p:spTree>
      <p:nvGrpSpPr>
        <p:cNvPr id="1" name=""/>
        <p:cNvGrpSpPr/>
        <p:nvPr/>
      </p:nvGrpSpPr>
      <p:grpSpPr>
        <a:xfrm>
          <a:off x="0" y="0"/>
          <a:ext cx="0" cy="0"/>
          <a:chOff x="0" y="0"/>
          <a:chExt cx="0" cy="0"/>
        </a:xfrm>
      </p:grpSpPr>
      <p:sp>
        <p:nvSpPr>
          <p:cNvPr id="2" name="Shape 0"/>
          <p:cNvSpPr/>
          <p:nvPr/>
        </p:nvSpPr>
        <p:spPr>
          <a:xfrm>
            <a:off x="7635240" y="1371600"/>
            <a:ext cx="3703320" cy="4114800"/>
          </a:xfrm>
          <a:prstGeom prst="rect">
            <a:avLst/>
          </a:prstGeom>
          <a:solidFill>
            <a:srgbClr val="262932"/>
          </a:solidFill>
          <a:ln w="12700">
            <a:solidFill>
              <a:srgbClr val="333333"/>
            </a:solidFill>
            <a:prstDash val="solid"/>
          </a:ln>
        </p:spPr>
      </p:sp>
      <p:sp>
        <p:nvSpPr>
          <p:cNvPr id="3" name="Shape 1"/>
          <p:cNvSpPr/>
          <p:nvPr/>
        </p:nvSpPr>
        <p:spPr>
          <a:xfrm>
            <a:off x="7452360" y="1188720"/>
            <a:ext cx="182880" cy="182880"/>
          </a:xfrm>
          <a:prstGeom prst="rect">
            <a:avLst/>
          </a:prstGeom>
          <a:solidFill>
            <a:srgbClr val="F5C451"/>
          </a:solidFill>
          <a:ln w="12700">
            <a:solidFill>
              <a:srgbClr val="333333"/>
            </a:solidFill>
            <a:prstDash val="solid"/>
          </a:ln>
        </p:spPr>
      </p:sp>
      <p:sp>
        <p:nvSpPr>
          <p:cNvPr id="4" name="Shape 2"/>
          <p:cNvSpPr/>
          <p:nvPr/>
        </p:nvSpPr>
        <p:spPr>
          <a:xfrm>
            <a:off x="11228832" y="1188720"/>
            <a:ext cx="182880" cy="182880"/>
          </a:xfrm>
          <a:prstGeom prst="rect">
            <a:avLst/>
          </a:prstGeom>
          <a:solidFill>
            <a:srgbClr val="5C8FFF"/>
          </a:solidFill>
          <a:ln w="12700">
            <a:solidFill>
              <a:srgbClr val="333333"/>
            </a:solidFill>
            <a:prstDash val="solid"/>
          </a:ln>
        </p:spPr>
      </p:sp>
      <p:sp>
        <p:nvSpPr>
          <p:cNvPr id="5" name="Shape 3"/>
          <p:cNvSpPr/>
          <p:nvPr/>
        </p:nvSpPr>
        <p:spPr>
          <a:xfrm>
            <a:off x="7452360" y="5431536"/>
            <a:ext cx="182880" cy="182880"/>
          </a:xfrm>
          <a:prstGeom prst="rect">
            <a:avLst/>
          </a:prstGeom>
          <a:solidFill>
            <a:srgbClr val="3DDC97"/>
          </a:solidFill>
          <a:ln w="12700">
            <a:solidFill>
              <a:srgbClr val="333333"/>
            </a:solidFill>
            <a:prstDash val="solid"/>
          </a:ln>
        </p:spPr>
      </p:sp>
      <p:sp>
        <p:nvSpPr>
          <p:cNvPr id="6" name="Shape 4"/>
          <p:cNvSpPr/>
          <p:nvPr/>
        </p:nvSpPr>
        <p:spPr>
          <a:xfrm>
            <a:off x="11228832" y="5431536"/>
            <a:ext cx="182880" cy="182880"/>
          </a:xfrm>
          <a:prstGeom prst="rect">
            <a:avLst/>
          </a:prstGeom>
          <a:solidFill>
            <a:srgbClr val="3F6CD1"/>
          </a:solidFill>
          <a:ln w="12700">
            <a:solidFill>
              <a:srgbClr val="333333"/>
            </a:solidFill>
            <a:prstDash val="solid"/>
          </a:ln>
        </p:spPr>
      </p:sp>
      <p:pic>
        <p:nvPicPr>
          <p:cNvPr id="7" name="Image 0" descr="/home/user/data_governance/presentation/assets/pal_idle.png">    </p:cNvPr>
          <p:cNvPicPr>
            <a:picLocks noChangeAspect="1"/>
          </p:cNvPicPr>
          <p:nvPr/>
        </p:nvPicPr>
        <p:blipFill>
          <a:blip r:embed="rId1"/>
          <a:stretch>
            <a:fillRect/>
          </a:stretch>
        </p:blipFill>
        <p:spPr>
          <a:xfrm>
            <a:off x="8398764" y="2011680"/>
            <a:ext cx="2194560" cy="2926080"/>
          </a:xfrm>
          <a:prstGeom prst="rect">
            <a:avLst/>
          </a:prstGeom>
        </p:spPr>
      </p:pic>
      <p:sp>
        <p:nvSpPr>
          <p:cNvPr id="8" name="Shape 5"/>
          <p:cNvSpPr/>
          <p:nvPr/>
        </p:nvSpPr>
        <p:spPr>
          <a:xfrm>
            <a:off x="822960" y="1389888"/>
            <a:ext cx="118872" cy="118872"/>
          </a:xfrm>
          <a:prstGeom prst="rect">
            <a:avLst/>
          </a:prstGeom>
          <a:solidFill>
            <a:srgbClr val="5C8FFF"/>
          </a:solidFill>
          <a:ln w="12700">
            <a:solidFill>
              <a:srgbClr val="333333"/>
            </a:solidFill>
            <a:prstDash val="solid"/>
          </a:ln>
        </p:spPr>
      </p:sp>
      <p:sp>
        <p:nvSpPr>
          <p:cNvPr id="9" name="Shape 6"/>
          <p:cNvSpPr/>
          <p:nvPr/>
        </p:nvSpPr>
        <p:spPr>
          <a:xfrm>
            <a:off x="1005840" y="1389888"/>
            <a:ext cx="118872" cy="118872"/>
          </a:xfrm>
          <a:prstGeom prst="rect">
            <a:avLst/>
          </a:prstGeom>
          <a:solidFill>
            <a:srgbClr val="F5C451"/>
          </a:solidFill>
          <a:ln w="12700">
            <a:solidFill>
              <a:srgbClr val="333333"/>
            </a:solidFill>
            <a:prstDash val="solid"/>
          </a:ln>
        </p:spPr>
      </p:sp>
      <p:sp>
        <p:nvSpPr>
          <p:cNvPr id="10" name="Shape 7"/>
          <p:cNvSpPr/>
          <p:nvPr/>
        </p:nvSpPr>
        <p:spPr>
          <a:xfrm>
            <a:off x="1188720" y="1389888"/>
            <a:ext cx="118872" cy="118872"/>
          </a:xfrm>
          <a:prstGeom prst="rect">
            <a:avLst/>
          </a:prstGeom>
          <a:solidFill>
            <a:srgbClr val="3DDC97"/>
          </a:solidFill>
          <a:ln w="12700">
            <a:solidFill>
              <a:srgbClr val="333333"/>
            </a:solidFill>
            <a:prstDash val="solid"/>
          </a:ln>
        </p:spPr>
      </p:sp>
      <p:sp>
        <p:nvSpPr>
          <p:cNvPr id="11" name="Text 8"/>
          <p:cNvSpPr/>
          <p:nvPr/>
        </p:nvSpPr>
        <p:spPr>
          <a:xfrm>
            <a:off x="1481328" y="1325880"/>
            <a:ext cx="7315200" cy="256032"/>
          </a:xfrm>
          <a:prstGeom prst="rect">
            <a:avLst/>
          </a:prstGeom>
          <a:noFill/>
          <a:ln/>
        </p:spPr>
        <p:txBody>
          <a:bodyPr wrap="square" lIns="0" tIns="0" rIns="0" bIns="0" rtlCol="0" anchor="ctr"/>
          <a:lstStyle/>
          <a:p>
            <a:pPr indent="0" marL="0">
              <a:buNone/>
            </a:pPr>
            <a:r>
              <a:rPr lang="en-US" sz="1150" b="1" spc="220" kern="0" dirty="0">
                <a:solidFill>
                  <a:srgbClr val="F5C451"/>
                </a:solidFill>
                <a:latin typeface="Arial" pitchFamily="34" charset="0"/>
                <a:ea typeface="Arial" pitchFamily="34" charset="-122"/>
                <a:cs typeface="Arial" pitchFamily="34" charset="-120"/>
              </a:rPr>
              <a:t>LOCAL AI FOR CLASSIC OFFICE</a:t>
            </a:r>
            <a:endParaRPr lang="en-US" sz="1150" dirty="0"/>
          </a:p>
        </p:txBody>
      </p:sp>
      <p:sp>
        <p:nvSpPr>
          <p:cNvPr id="12" name="Text 9"/>
          <p:cNvSpPr/>
          <p:nvPr/>
        </p:nvSpPr>
        <p:spPr>
          <a:xfrm>
            <a:off x="822960" y="1783080"/>
            <a:ext cx="6400800" cy="1234440"/>
          </a:xfrm>
          <a:prstGeom prst="rect">
            <a:avLst/>
          </a:prstGeom>
          <a:noFill/>
          <a:ln/>
        </p:spPr>
        <p:txBody>
          <a:bodyPr wrap="square" lIns="0" tIns="0" rIns="0" bIns="0" rtlCol="0" anchor="ctr"/>
          <a:lstStyle/>
          <a:p>
            <a:pPr indent="0" marL="0">
              <a:buNone/>
            </a:pPr>
            <a:r>
              <a:rPr lang="en-US" sz="9200" b="1" spc="-100" kern="0" dirty="0">
                <a:solidFill>
                  <a:srgbClr val="FFFFFF"/>
                </a:solidFill>
                <a:latin typeface="Arial" pitchFamily="34" charset="0"/>
                <a:ea typeface="Arial" pitchFamily="34" charset="-122"/>
                <a:cs typeface="Arial" pitchFamily="34" charset="-120"/>
              </a:rPr>
              <a:t>AI365</a:t>
            </a:r>
            <a:endParaRPr lang="en-US" sz="9200" dirty="0"/>
          </a:p>
        </p:txBody>
      </p:sp>
      <p:sp>
        <p:nvSpPr>
          <p:cNvPr id="13" name="Text 10"/>
          <p:cNvSpPr/>
          <p:nvPr/>
        </p:nvSpPr>
        <p:spPr>
          <a:xfrm>
            <a:off x="822960" y="3154680"/>
            <a:ext cx="6309360" cy="914400"/>
          </a:xfrm>
          <a:prstGeom prst="rect">
            <a:avLst/>
          </a:prstGeom>
          <a:noFill/>
          <a:ln/>
        </p:spPr>
        <p:txBody>
          <a:bodyPr wrap="square" lIns="0" tIns="0" rIns="0" bIns="0" rtlCol="0" anchor="ctr"/>
          <a:lstStyle/>
          <a:p>
            <a:pPr indent="0" marL="0">
              <a:lnSpc>
                <a:spcPts val="2800"/>
              </a:lnSpc>
              <a:buNone/>
            </a:pPr>
            <a:r>
              <a:rPr lang="en-US" sz="1900" dirty="0">
                <a:solidFill>
                  <a:srgbClr val="C9CCD6"/>
                </a:solidFill>
                <a:latin typeface="Calibri" pitchFamily="34" charset="0"/>
                <a:ea typeface="Calibri" pitchFamily="34" charset="-122"/>
                <a:cs typeface="Calibri" pitchFamily="34" charset="-120"/>
              </a:rPr>
              <a:t>Your own AI assistant, sitting quietly inside Outlook, Excel, PowerPoint and Word.</a:t>
            </a:r>
            <a:endParaRPr lang="en-US" sz="1900" dirty="0"/>
          </a:p>
        </p:txBody>
      </p:sp>
      <p:sp>
        <p:nvSpPr>
          <p:cNvPr id="14" name="Shape 11"/>
          <p:cNvSpPr/>
          <p:nvPr/>
        </p:nvSpPr>
        <p:spPr>
          <a:xfrm>
            <a:off x="822960" y="4343400"/>
            <a:ext cx="1874520" cy="502920"/>
          </a:xfrm>
          <a:prstGeom prst="rect">
            <a:avLst/>
          </a:prstGeom>
          <a:solidFill>
            <a:srgbClr val="262932"/>
          </a:solidFill>
          <a:ln w="12700">
            <a:solidFill>
              <a:srgbClr val="5C8FFF"/>
            </a:solidFill>
            <a:prstDash val="solid"/>
          </a:ln>
        </p:spPr>
      </p:sp>
      <p:sp>
        <p:nvSpPr>
          <p:cNvPr id="15" name="Shape 12"/>
          <p:cNvSpPr/>
          <p:nvPr/>
        </p:nvSpPr>
        <p:spPr>
          <a:xfrm>
            <a:off x="987552" y="4539996"/>
            <a:ext cx="109728" cy="109728"/>
          </a:xfrm>
          <a:prstGeom prst="rect">
            <a:avLst/>
          </a:prstGeom>
          <a:solidFill>
            <a:srgbClr val="5C8FFF"/>
          </a:solidFill>
          <a:ln w="12700">
            <a:solidFill>
              <a:srgbClr val="333333"/>
            </a:solidFill>
            <a:prstDash val="solid"/>
          </a:ln>
        </p:spPr>
      </p:sp>
      <p:sp>
        <p:nvSpPr>
          <p:cNvPr id="16" name="Text 13"/>
          <p:cNvSpPr/>
          <p:nvPr/>
        </p:nvSpPr>
        <p:spPr>
          <a:xfrm>
            <a:off x="1170432" y="4343400"/>
            <a:ext cx="1463040" cy="5029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Runs on your PC</a:t>
            </a:r>
            <a:endParaRPr lang="en-US" sz="1200" dirty="0"/>
          </a:p>
        </p:txBody>
      </p:sp>
      <p:sp>
        <p:nvSpPr>
          <p:cNvPr id="17" name="Shape 14"/>
          <p:cNvSpPr/>
          <p:nvPr/>
        </p:nvSpPr>
        <p:spPr>
          <a:xfrm>
            <a:off x="2926080" y="4343400"/>
            <a:ext cx="1874520" cy="502920"/>
          </a:xfrm>
          <a:prstGeom prst="rect">
            <a:avLst/>
          </a:prstGeom>
          <a:solidFill>
            <a:srgbClr val="262932"/>
          </a:solidFill>
          <a:ln w="12700">
            <a:solidFill>
              <a:srgbClr val="3DDC97"/>
            </a:solidFill>
            <a:prstDash val="solid"/>
          </a:ln>
        </p:spPr>
      </p:sp>
      <p:sp>
        <p:nvSpPr>
          <p:cNvPr id="18" name="Shape 15"/>
          <p:cNvSpPr/>
          <p:nvPr/>
        </p:nvSpPr>
        <p:spPr>
          <a:xfrm>
            <a:off x="3090672" y="4539996"/>
            <a:ext cx="109728" cy="109728"/>
          </a:xfrm>
          <a:prstGeom prst="rect">
            <a:avLst/>
          </a:prstGeom>
          <a:solidFill>
            <a:srgbClr val="3DDC97"/>
          </a:solidFill>
          <a:ln w="12700">
            <a:solidFill>
              <a:srgbClr val="333333"/>
            </a:solidFill>
            <a:prstDash val="solid"/>
          </a:ln>
        </p:spPr>
      </p:sp>
      <p:sp>
        <p:nvSpPr>
          <p:cNvPr id="19" name="Text 16"/>
          <p:cNvSpPr/>
          <p:nvPr/>
        </p:nvSpPr>
        <p:spPr>
          <a:xfrm>
            <a:off x="3273552" y="4343400"/>
            <a:ext cx="1463040" cy="5029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Nothing uploaded</a:t>
            </a:r>
            <a:endParaRPr lang="en-US" sz="1200" dirty="0"/>
          </a:p>
        </p:txBody>
      </p:sp>
      <p:sp>
        <p:nvSpPr>
          <p:cNvPr id="20" name="Shape 17"/>
          <p:cNvSpPr/>
          <p:nvPr/>
        </p:nvSpPr>
        <p:spPr>
          <a:xfrm>
            <a:off x="5029200" y="4343400"/>
            <a:ext cx="1874520" cy="502920"/>
          </a:xfrm>
          <a:prstGeom prst="rect">
            <a:avLst/>
          </a:prstGeom>
          <a:solidFill>
            <a:srgbClr val="262932"/>
          </a:solidFill>
          <a:ln w="12700">
            <a:solidFill>
              <a:srgbClr val="F5C451"/>
            </a:solidFill>
            <a:prstDash val="solid"/>
          </a:ln>
        </p:spPr>
      </p:sp>
      <p:sp>
        <p:nvSpPr>
          <p:cNvPr id="21" name="Shape 18"/>
          <p:cNvSpPr/>
          <p:nvPr/>
        </p:nvSpPr>
        <p:spPr>
          <a:xfrm>
            <a:off x="5193792" y="4539996"/>
            <a:ext cx="109728" cy="109728"/>
          </a:xfrm>
          <a:prstGeom prst="rect">
            <a:avLst/>
          </a:prstGeom>
          <a:solidFill>
            <a:srgbClr val="F5C451"/>
          </a:solidFill>
          <a:ln w="12700">
            <a:solidFill>
              <a:srgbClr val="333333"/>
            </a:solidFill>
            <a:prstDash val="solid"/>
          </a:ln>
        </p:spPr>
      </p:sp>
      <p:sp>
        <p:nvSpPr>
          <p:cNvPr id="22" name="Text 19"/>
          <p:cNvSpPr/>
          <p:nvPr/>
        </p:nvSpPr>
        <p:spPr>
          <a:xfrm>
            <a:off x="5376672" y="4343400"/>
            <a:ext cx="1463040" cy="5029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No licence fee</a:t>
            </a:r>
            <a:endParaRPr lang="en-US" sz="1200" dirty="0"/>
          </a:p>
        </p:txBody>
      </p:sp>
      <p:sp>
        <p:nvSpPr>
          <p:cNvPr id="23" name="Text 20"/>
          <p:cNvSpPr/>
          <p:nvPr/>
        </p:nvSpPr>
        <p:spPr>
          <a:xfrm>
            <a:off x="822960" y="5715000"/>
            <a:ext cx="6400800" cy="320040"/>
          </a:xfrm>
          <a:prstGeom prst="rect">
            <a:avLst/>
          </a:prstGeom>
          <a:noFill/>
          <a:ln/>
        </p:spPr>
        <p:txBody>
          <a:bodyPr wrap="square" lIns="0" tIns="0" rIns="0" bIns="0" rtlCol="0" anchor="ctr"/>
          <a:lstStyle/>
          <a:p>
            <a:pPr indent="0" marL="0">
              <a:buNone/>
            </a:pPr>
            <a:r>
              <a:rPr lang="en-US" sz="1200" i="1" dirty="0">
                <a:solidFill>
                  <a:srgbClr val="9096A3"/>
                </a:solidFill>
                <a:latin typeface="Calibri" pitchFamily="34" charset="0"/>
                <a:ea typeface="Calibri" pitchFamily="34" charset="-122"/>
                <a:cs typeface="Calibri" pitchFamily="34" charset="-120"/>
              </a:rPr>
              <a:t>A presentation for people who do not want to think about the plumbing.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822960" y="713232"/>
            <a:ext cx="118872" cy="118872"/>
          </a:xfrm>
          <a:prstGeom prst="rect">
            <a:avLst/>
          </a:prstGeom>
          <a:solidFill>
            <a:srgbClr val="5C8FFF"/>
          </a:solidFill>
          <a:ln w="12700">
            <a:solidFill>
              <a:srgbClr val="333333"/>
            </a:solidFill>
            <a:prstDash val="solid"/>
          </a:ln>
        </p:spPr>
      </p:sp>
      <p:sp>
        <p:nvSpPr>
          <p:cNvPr id="3" name="Shape 1"/>
          <p:cNvSpPr/>
          <p:nvPr/>
        </p:nvSpPr>
        <p:spPr>
          <a:xfrm>
            <a:off x="1005840" y="713232"/>
            <a:ext cx="118872" cy="118872"/>
          </a:xfrm>
          <a:prstGeom prst="rect">
            <a:avLst/>
          </a:prstGeom>
          <a:solidFill>
            <a:srgbClr val="F5C451"/>
          </a:solidFill>
          <a:ln w="12700">
            <a:solidFill>
              <a:srgbClr val="333333"/>
            </a:solidFill>
            <a:prstDash val="solid"/>
          </a:ln>
        </p:spPr>
      </p:sp>
      <p:sp>
        <p:nvSpPr>
          <p:cNvPr id="4" name="Shape 2"/>
          <p:cNvSpPr/>
          <p:nvPr/>
        </p:nvSpPr>
        <p:spPr>
          <a:xfrm>
            <a:off x="1188720" y="713232"/>
            <a:ext cx="118872" cy="118872"/>
          </a:xfrm>
          <a:prstGeom prst="rect">
            <a:avLst/>
          </a:prstGeom>
          <a:solidFill>
            <a:srgbClr val="3DDC97"/>
          </a:solidFill>
          <a:ln w="12700">
            <a:solidFill>
              <a:srgbClr val="333333"/>
            </a:solidFill>
            <a:prstDash val="solid"/>
          </a:ln>
        </p:spPr>
      </p:sp>
      <p:sp>
        <p:nvSpPr>
          <p:cNvPr id="5" name="Text 3"/>
          <p:cNvSpPr/>
          <p:nvPr/>
        </p:nvSpPr>
        <p:spPr>
          <a:xfrm>
            <a:off x="1481328" y="649224"/>
            <a:ext cx="7315200" cy="256032"/>
          </a:xfrm>
          <a:prstGeom prst="rect">
            <a:avLst/>
          </a:prstGeom>
          <a:noFill/>
          <a:ln/>
        </p:spPr>
        <p:txBody>
          <a:bodyPr wrap="square" lIns="0" tIns="0" rIns="0" bIns="0" rtlCol="0" anchor="ctr"/>
          <a:lstStyle/>
          <a:p>
            <a:pPr indent="0" marL="0">
              <a:buNone/>
            </a:pPr>
            <a:r>
              <a:rPr lang="en-US" sz="1150" b="1" spc="220" kern="0" dirty="0">
                <a:solidFill>
                  <a:srgbClr val="6E7382"/>
                </a:solidFill>
                <a:latin typeface="Arial" pitchFamily="34" charset="0"/>
                <a:ea typeface="Arial" pitchFamily="34" charset="-122"/>
                <a:cs typeface="Arial" pitchFamily="34" charset="-120"/>
              </a:rPr>
              <a:t>WHAT YOU ACTUALLY GET</a:t>
            </a:r>
            <a:endParaRPr lang="en-US" sz="1150" dirty="0"/>
          </a:p>
        </p:txBody>
      </p:sp>
      <p:sp>
        <p:nvSpPr>
          <p:cNvPr id="6" name="Text 4"/>
          <p:cNvSpPr/>
          <p:nvPr/>
        </p:nvSpPr>
        <p:spPr>
          <a:xfrm>
            <a:off x="822960" y="1024128"/>
            <a:ext cx="8686800" cy="640080"/>
          </a:xfrm>
          <a:prstGeom prst="rect">
            <a:avLst/>
          </a:prstGeom>
          <a:noFill/>
          <a:ln/>
        </p:spPr>
        <p:txBody>
          <a:bodyPr wrap="square" lIns="0" tIns="0" rIns="0" bIns="0" rtlCol="0" anchor="ctr"/>
          <a:lstStyle/>
          <a:p>
            <a:pPr indent="0" marL="0">
              <a:buNone/>
            </a:pPr>
            <a:r>
              <a:rPr lang="en-US" sz="4000" b="1" dirty="0">
                <a:solidFill>
                  <a:srgbClr val="1A1C24"/>
                </a:solidFill>
                <a:latin typeface="Arial" pitchFamily="34" charset="0"/>
                <a:ea typeface="Arial" pitchFamily="34" charset="-122"/>
                <a:cs typeface="Arial" pitchFamily="34" charset="-120"/>
              </a:rPr>
              <a:t>One installer, four apps</a:t>
            </a:r>
            <a:endParaRPr lang="en-US" sz="4000" dirty="0"/>
          </a:p>
        </p:txBody>
      </p:sp>
      <p:sp>
        <p:nvSpPr>
          <p:cNvPr id="7" name="Text 5"/>
          <p:cNvSpPr/>
          <p:nvPr/>
        </p:nvSpPr>
        <p:spPr>
          <a:xfrm>
            <a:off x="822960" y="1691640"/>
            <a:ext cx="7863840" cy="457200"/>
          </a:xfrm>
          <a:prstGeom prst="rect">
            <a:avLst/>
          </a:prstGeom>
          <a:noFill/>
          <a:ln/>
        </p:spPr>
        <p:txBody>
          <a:bodyPr wrap="square" lIns="0" tIns="0" rIns="0" bIns="0" rtlCol="0" anchor="ctr"/>
          <a:lstStyle/>
          <a:p>
            <a:pPr indent="0" marL="0">
              <a:buNone/>
            </a:pPr>
            <a:r>
              <a:rPr lang="en-US" sz="1500" dirty="0">
                <a:solidFill>
                  <a:srgbClr val="6E7382"/>
                </a:solidFill>
                <a:latin typeface="Calibri" pitchFamily="34" charset="0"/>
                <a:ea typeface="Calibri" pitchFamily="34" charset="-122"/>
                <a:cs typeface="Calibri" pitchFamily="34" charset="-120"/>
              </a:rPr>
              <a:t>The same sidebar appears in the Office apps you already use every day. You type a question; it answers beside your work.</a:t>
            </a:r>
            <a:endParaRPr lang="en-US" sz="1500" dirty="0"/>
          </a:p>
        </p:txBody>
      </p:sp>
      <p:sp>
        <p:nvSpPr>
          <p:cNvPr id="8" name="Shape 6"/>
          <p:cNvSpPr/>
          <p:nvPr/>
        </p:nvSpPr>
        <p:spPr>
          <a:xfrm>
            <a:off x="822960" y="2331720"/>
            <a:ext cx="5029200" cy="1783080"/>
          </a:xfrm>
          <a:prstGeom prst="rect">
            <a:avLst/>
          </a:prstGeom>
          <a:solidFill>
            <a:srgbClr val="FFFFFF"/>
          </a:solidFill>
          <a:ln w="12700">
            <a:solidFill>
              <a:srgbClr val="333333"/>
            </a:solidFill>
            <a:prstDash val="solid"/>
          </a:ln>
          <a:effectLst>
            <a:outerShdw sx="100000" sy="100000" kx="0" ky="0" algn="bl" rotWithShape="0" blurRad="177800" dist="38100" dir="5400000">
              <a:srgbClr val="8A93A8">
                <a:alpha val="20000"/>
              </a:srgbClr>
            </a:outerShdw>
          </a:effectLst>
        </p:spPr>
      </p:sp>
      <p:sp>
        <p:nvSpPr>
          <p:cNvPr id="9" name="Shape 7"/>
          <p:cNvSpPr/>
          <p:nvPr/>
        </p:nvSpPr>
        <p:spPr>
          <a:xfrm>
            <a:off x="1207008" y="2715768"/>
            <a:ext cx="603504" cy="603504"/>
          </a:xfrm>
          <a:prstGeom prst="rect">
            <a:avLst/>
          </a:prstGeom>
          <a:solidFill>
            <a:srgbClr val="5C8FFF"/>
          </a:solidFill>
          <a:ln w="12700">
            <a:solidFill>
              <a:srgbClr val="333333"/>
            </a:solidFill>
            <a:prstDash val="solid"/>
          </a:ln>
        </p:spPr>
      </p:sp>
      <p:sp>
        <p:nvSpPr>
          <p:cNvPr id="10" name="Text 8"/>
          <p:cNvSpPr/>
          <p:nvPr/>
        </p:nvSpPr>
        <p:spPr>
          <a:xfrm>
            <a:off x="1207008" y="271576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O</a:t>
            </a:r>
            <a:endParaRPr lang="en-US" sz="2200" dirty="0"/>
          </a:p>
        </p:txBody>
      </p:sp>
      <p:sp>
        <p:nvSpPr>
          <p:cNvPr id="11" name="Text 9"/>
          <p:cNvSpPr/>
          <p:nvPr/>
        </p:nvSpPr>
        <p:spPr>
          <a:xfrm>
            <a:off x="2029968" y="2697480"/>
            <a:ext cx="3383280" cy="365760"/>
          </a:xfrm>
          <a:prstGeom prst="rect">
            <a:avLst/>
          </a:prstGeom>
          <a:noFill/>
          <a:ln/>
        </p:spPr>
        <p:txBody>
          <a:bodyPr wrap="square" lIns="0" tIns="0" rIns="0" bIns="0" rtlCol="0" anchor="ctr"/>
          <a:lstStyle/>
          <a:p>
            <a:pPr indent="0" marL="0">
              <a:buNone/>
            </a:pPr>
            <a:r>
              <a:rPr lang="en-US" sz="1900" b="1" dirty="0">
                <a:solidFill>
                  <a:srgbClr val="1A1C24"/>
                </a:solidFill>
                <a:latin typeface="Arial" pitchFamily="34" charset="0"/>
                <a:ea typeface="Arial" pitchFamily="34" charset="-122"/>
                <a:cs typeface="Arial" pitchFamily="34" charset="-120"/>
              </a:rPr>
              <a:t>Outlook</a:t>
            </a:r>
            <a:endParaRPr lang="en-US" sz="1900" dirty="0"/>
          </a:p>
        </p:txBody>
      </p:sp>
      <p:sp>
        <p:nvSpPr>
          <p:cNvPr id="12" name="Text 10"/>
          <p:cNvSpPr/>
          <p:nvPr/>
        </p:nvSpPr>
        <p:spPr>
          <a:xfrm>
            <a:off x="2029968" y="3108960"/>
            <a:ext cx="3429000" cy="86868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Ask about your inbox in plain English, then open a ready-to-read reply that stays unsent until you send it.</a:t>
            </a:r>
            <a:endParaRPr lang="en-US" sz="1250" dirty="0"/>
          </a:p>
        </p:txBody>
      </p:sp>
      <p:sp>
        <p:nvSpPr>
          <p:cNvPr id="13" name="Shape 11"/>
          <p:cNvSpPr/>
          <p:nvPr/>
        </p:nvSpPr>
        <p:spPr>
          <a:xfrm>
            <a:off x="6309360" y="2331720"/>
            <a:ext cx="5029200" cy="1783080"/>
          </a:xfrm>
          <a:prstGeom prst="rect">
            <a:avLst/>
          </a:prstGeom>
          <a:solidFill>
            <a:srgbClr val="FFFFFF"/>
          </a:solidFill>
          <a:ln w="12700">
            <a:solidFill>
              <a:srgbClr val="333333"/>
            </a:solidFill>
            <a:prstDash val="solid"/>
          </a:ln>
          <a:effectLst>
            <a:outerShdw sx="100000" sy="100000" kx="0" ky="0" algn="bl" rotWithShape="0" blurRad="177800" dist="38100" dir="5400000">
              <a:srgbClr val="8A93A8">
                <a:alpha val="20000"/>
              </a:srgbClr>
            </a:outerShdw>
          </a:effectLst>
        </p:spPr>
      </p:sp>
      <p:sp>
        <p:nvSpPr>
          <p:cNvPr id="14" name="Shape 12"/>
          <p:cNvSpPr/>
          <p:nvPr/>
        </p:nvSpPr>
        <p:spPr>
          <a:xfrm>
            <a:off x="6693408" y="2715768"/>
            <a:ext cx="603504" cy="603504"/>
          </a:xfrm>
          <a:prstGeom prst="rect">
            <a:avLst/>
          </a:prstGeom>
          <a:solidFill>
            <a:srgbClr val="3DDC97"/>
          </a:solidFill>
          <a:ln w="12700">
            <a:solidFill>
              <a:srgbClr val="333333"/>
            </a:solidFill>
            <a:prstDash val="solid"/>
          </a:ln>
        </p:spPr>
      </p:sp>
      <p:sp>
        <p:nvSpPr>
          <p:cNvPr id="15" name="Text 13"/>
          <p:cNvSpPr/>
          <p:nvPr/>
        </p:nvSpPr>
        <p:spPr>
          <a:xfrm>
            <a:off x="6693408" y="271576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X</a:t>
            </a:r>
            <a:endParaRPr lang="en-US" sz="2200" dirty="0"/>
          </a:p>
        </p:txBody>
      </p:sp>
      <p:sp>
        <p:nvSpPr>
          <p:cNvPr id="16" name="Text 14"/>
          <p:cNvSpPr/>
          <p:nvPr/>
        </p:nvSpPr>
        <p:spPr>
          <a:xfrm>
            <a:off x="7516368" y="2697480"/>
            <a:ext cx="3383280" cy="365760"/>
          </a:xfrm>
          <a:prstGeom prst="rect">
            <a:avLst/>
          </a:prstGeom>
          <a:noFill/>
          <a:ln/>
        </p:spPr>
        <p:txBody>
          <a:bodyPr wrap="square" lIns="0" tIns="0" rIns="0" bIns="0" rtlCol="0" anchor="ctr"/>
          <a:lstStyle/>
          <a:p>
            <a:pPr indent="0" marL="0">
              <a:buNone/>
            </a:pPr>
            <a:r>
              <a:rPr lang="en-US" sz="1900" b="1" dirty="0">
                <a:solidFill>
                  <a:srgbClr val="1A1C24"/>
                </a:solidFill>
                <a:latin typeface="Arial" pitchFamily="34" charset="0"/>
                <a:ea typeface="Arial" pitchFamily="34" charset="-122"/>
                <a:cs typeface="Arial" pitchFamily="34" charset="-120"/>
              </a:rPr>
              <a:t>Excel</a:t>
            </a:r>
            <a:endParaRPr lang="en-US" sz="1900" dirty="0"/>
          </a:p>
        </p:txBody>
      </p:sp>
      <p:sp>
        <p:nvSpPr>
          <p:cNvPr id="17" name="Text 15"/>
          <p:cNvSpPr/>
          <p:nvPr/>
        </p:nvSpPr>
        <p:spPr>
          <a:xfrm>
            <a:off x="7516368" y="3108960"/>
            <a:ext cx="3429000" cy="86868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Ask about the open workbook. Answers land on a clearly marked draft sheet, live formulas and all.</a:t>
            </a:r>
            <a:endParaRPr lang="en-US" sz="1250" dirty="0"/>
          </a:p>
        </p:txBody>
      </p:sp>
      <p:sp>
        <p:nvSpPr>
          <p:cNvPr id="18" name="Shape 16"/>
          <p:cNvSpPr/>
          <p:nvPr/>
        </p:nvSpPr>
        <p:spPr>
          <a:xfrm>
            <a:off x="822960" y="4343400"/>
            <a:ext cx="5029200" cy="1783080"/>
          </a:xfrm>
          <a:prstGeom prst="rect">
            <a:avLst/>
          </a:prstGeom>
          <a:solidFill>
            <a:srgbClr val="FFFFFF"/>
          </a:solidFill>
          <a:ln w="12700">
            <a:solidFill>
              <a:srgbClr val="333333"/>
            </a:solidFill>
            <a:prstDash val="solid"/>
          </a:ln>
          <a:effectLst>
            <a:outerShdw sx="100000" sy="100000" kx="0" ky="0" algn="bl" rotWithShape="0" blurRad="177800" dist="38100" dir="5400000">
              <a:srgbClr val="8A93A8">
                <a:alpha val="20000"/>
              </a:srgbClr>
            </a:outerShdw>
          </a:effectLst>
        </p:spPr>
      </p:sp>
      <p:sp>
        <p:nvSpPr>
          <p:cNvPr id="19" name="Shape 17"/>
          <p:cNvSpPr/>
          <p:nvPr/>
        </p:nvSpPr>
        <p:spPr>
          <a:xfrm>
            <a:off x="1207008" y="4727448"/>
            <a:ext cx="603504" cy="603504"/>
          </a:xfrm>
          <a:prstGeom prst="rect">
            <a:avLst/>
          </a:prstGeom>
          <a:solidFill>
            <a:srgbClr val="F5C451"/>
          </a:solidFill>
          <a:ln w="12700">
            <a:solidFill>
              <a:srgbClr val="333333"/>
            </a:solidFill>
            <a:prstDash val="solid"/>
          </a:ln>
        </p:spPr>
      </p:sp>
      <p:sp>
        <p:nvSpPr>
          <p:cNvPr id="20" name="Text 18"/>
          <p:cNvSpPr/>
          <p:nvPr/>
        </p:nvSpPr>
        <p:spPr>
          <a:xfrm>
            <a:off x="1207008" y="472744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P</a:t>
            </a:r>
            <a:endParaRPr lang="en-US" sz="2200" dirty="0"/>
          </a:p>
        </p:txBody>
      </p:sp>
      <p:sp>
        <p:nvSpPr>
          <p:cNvPr id="21" name="Text 19"/>
          <p:cNvSpPr/>
          <p:nvPr/>
        </p:nvSpPr>
        <p:spPr>
          <a:xfrm>
            <a:off x="2029968" y="4709160"/>
            <a:ext cx="3383280" cy="365760"/>
          </a:xfrm>
          <a:prstGeom prst="rect">
            <a:avLst/>
          </a:prstGeom>
          <a:noFill/>
          <a:ln/>
        </p:spPr>
        <p:txBody>
          <a:bodyPr wrap="square" lIns="0" tIns="0" rIns="0" bIns="0" rtlCol="0" anchor="ctr"/>
          <a:lstStyle/>
          <a:p>
            <a:pPr indent="0" marL="0">
              <a:buNone/>
            </a:pPr>
            <a:r>
              <a:rPr lang="en-US" sz="1900" b="1" dirty="0">
                <a:solidFill>
                  <a:srgbClr val="1A1C24"/>
                </a:solidFill>
                <a:latin typeface="Arial" pitchFamily="34" charset="0"/>
                <a:ea typeface="Arial" pitchFamily="34" charset="-122"/>
                <a:cs typeface="Arial" pitchFamily="34" charset="-120"/>
              </a:rPr>
              <a:t>PowerPoint</a:t>
            </a:r>
            <a:endParaRPr lang="en-US" sz="1900" dirty="0"/>
          </a:p>
        </p:txBody>
      </p:sp>
      <p:sp>
        <p:nvSpPr>
          <p:cNvPr id="22" name="Text 20"/>
          <p:cNvSpPr/>
          <p:nvPr/>
        </p:nvSpPr>
        <p:spPr>
          <a:xfrm>
            <a:off x="2029968" y="5120640"/>
            <a:ext cx="3429000" cy="86868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Turn a page of rough notes into draft slides, laid out in the built-in corporate theme.</a:t>
            </a:r>
            <a:endParaRPr lang="en-US" sz="1250" dirty="0"/>
          </a:p>
        </p:txBody>
      </p:sp>
      <p:sp>
        <p:nvSpPr>
          <p:cNvPr id="23" name="Shape 21"/>
          <p:cNvSpPr/>
          <p:nvPr/>
        </p:nvSpPr>
        <p:spPr>
          <a:xfrm>
            <a:off x="6309360" y="4343400"/>
            <a:ext cx="5029200" cy="1783080"/>
          </a:xfrm>
          <a:prstGeom prst="rect">
            <a:avLst/>
          </a:prstGeom>
          <a:solidFill>
            <a:srgbClr val="FFFFFF"/>
          </a:solidFill>
          <a:ln w="12700">
            <a:solidFill>
              <a:srgbClr val="333333"/>
            </a:solidFill>
            <a:prstDash val="solid"/>
          </a:ln>
          <a:effectLst>
            <a:outerShdw sx="100000" sy="100000" kx="0" ky="0" algn="bl" rotWithShape="0" blurRad="177800" dist="38100" dir="5400000">
              <a:srgbClr val="8A93A8">
                <a:alpha val="20000"/>
              </a:srgbClr>
            </a:outerShdw>
          </a:effectLst>
        </p:spPr>
      </p:sp>
      <p:sp>
        <p:nvSpPr>
          <p:cNvPr id="24" name="Shape 22"/>
          <p:cNvSpPr/>
          <p:nvPr/>
        </p:nvSpPr>
        <p:spPr>
          <a:xfrm>
            <a:off x="6693408" y="4727448"/>
            <a:ext cx="603504" cy="603504"/>
          </a:xfrm>
          <a:prstGeom prst="rect">
            <a:avLst/>
          </a:prstGeom>
          <a:solidFill>
            <a:srgbClr val="3F6CD1"/>
          </a:solidFill>
          <a:ln w="12700">
            <a:solidFill>
              <a:srgbClr val="333333"/>
            </a:solidFill>
            <a:prstDash val="solid"/>
          </a:ln>
        </p:spPr>
      </p:sp>
      <p:sp>
        <p:nvSpPr>
          <p:cNvPr id="25" name="Text 23"/>
          <p:cNvSpPr/>
          <p:nvPr/>
        </p:nvSpPr>
        <p:spPr>
          <a:xfrm>
            <a:off x="6693408" y="472744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W</a:t>
            </a:r>
            <a:endParaRPr lang="en-US" sz="2200" dirty="0"/>
          </a:p>
        </p:txBody>
      </p:sp>
      <p:sp>
        <p:nvSpPr>
          <p:cNvPr id="26" name="Text 24"/>
          <p:cNvSpPr/>
          <p:nvPr/>
        </p:nvSpPr>
        <p:spPr>
          <a:xfrm>
            <a:off x="7516368" y="4709160"/>
            <a:ext cx="3383280" cy="365760"/>
          </a:xfrm>
          <a:prstGeom prst="rect">
            <a:avLst/>
          </a:prstGeom>
          <a:noFill/>
          <a:ln/>
        </p:spPr>
        <p:txBody>
          <a:bodyPr wrap="square" lIns="0" tIns="0" rIns="0" bIns="0" rtlCol="0" anchor="ctr"/>
          <a:lstStyle/>
          <a:p>
            <a:pPr indent="0" marL="0">
              <a:buNone/>
            </a:pPr>
            <a:r>
              <a:rPr lang="en-US" sz="1900" b="1" dirty="0">
                <a:solidFill>
                  <a:srgbClr val="1A1C24"/>
                </a:solidFill>
                <a:latin typeface="Arial" pitchFamily="34" charset="0"/>
                <a:ea typeface="Arial" pitchFamily="34" charset="-122"/>
                <a:cs typeface="Arial" pitchFamily="34" charset="-120"/>
              </a:rPr>
              <a:t>Word</a:t>
            </a:r>
            <a:endParaRPr lang="en-US" sz="1900" dirty="0"/>
          </a:p>
        </p:txBody>
      </p:sp>
      <p:sp>
        <p:nvSpPr>
          <p:cNvPr id="27" name="Text 25"/>
          <p:cNvSpPr/>
          <p:nvPr/>
        </p:nvSpPr>
        <p:spPr>
          <a:xfrm>
            <a:off x="7516368" y="5120640"/>
            <a:ext cx="3429000" cy="86868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Ask about the open document and get the rewrite back as a brand-new, unsaved draft document.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C24"/>
        </a:solidFill>
      </p:bgPr>
    </p:bg>
    <p:spTree>
      <p:nvGrpSpPr>
        <p:cNvPr id="1" name=""/>
        <p:cNvGrpSpPr/>
        <p:nvPr/>
      </p:nvGrpSpPr>
      <p:grpSpPr>
        <a:xfrm>
          <a:off x="0" y="0"/>
          <a:ext cx="0" cy="0"/>
          <a:chOff x="0" y="0"/>
          <a:chExt cx="0" cy="0"/>
        </a:xfrm>
      </p:grpSpPr>
      <p:sp>
        <p:nvSpPr>
          <p:cNvPr id="2" name="Shape 0"/>
          <p:cNvSpPr/>
          <p:nvPr/>
        </p:nvSpPr>
        <p:spPr>
          <a:xfrm>
            <a:off x="822960" y="713232"/>
            <a:ext cx="118872" cy="118872"/>
          </a:xfrm>
          <a:prstGeom prst="rect">
            <a:avLst/>
          </a:prstGeom>
          <a:solidFill>
            <a:srgbClr val="3DDC97"/>
          </a:solidFill>
          <a:ln w="12700">
            <a:solidFill>
              <a:srgbClr val="333333"/>
            </a:solidFill>
            <a:prstDash val="solid"/>
          </a:ln>
        </p:spPr>
      </p:sp>
      <p:sp>
        <p:nvSpPr>
          <p:cNvPr id="3" name="Shape 1"/>
          <p:cNvSpPr/>
          <p:nvPr/>
        </p:nvSpPr>
        <p:spPr>
          <a:xfrm>
            <a:off x="1005840" y="713232"/>
            <a:ext cx="118872" cy="118872"/>
          </a:xfrm>
          <a:prstGeom prst="rect">
            <a:avLst/>
          </a:prstGeom>
          <a:solidFill>
            <a:srgbClr val="3DDC97"/>
          </a:solidFill>
          <a:ln w="12700">
            <a:solidFill>
              <a:srgbClr val="333333"/>
            </a:solidFill>
            <a:prstDash val="solid"/>
          </a:ln>
        </p:spPr>
      </p:sp>
      <p:sp>
        <p:nvSpPr>
          <p:cNvPr id="4" name="Shape 2"/>
          <p:cNvSpPr/>
          <p:nvPr/>
        </p:nvSpPr>
        <p:spPr>
          <a:xfrm>
            <a:off x="1188720" y="713232"/>
            <a:ext cx="118872" cy="118872"/>
          </a:xfrm>
          <a:prstGeom prst="rect">
            <a:avLst/>
          </a:prstGeom>
          <a:solidFill>
            <a:srgbClr val="3DDC97"/>
          </a:solidFill>
          <a:ln w="12700">
            <a:solidFill>
              <a:srgbClr val="333333"/>
            </a:solidFill>
            <a:prstDash val="solid"/>
          </a:ln>
        </p:spPr>
      </p:sp>
      <p:sp>
        <p:nvSpPr>
          <p:cNvPr id="5" name="Text 3"/>
          <p:cNvSpPr/>
          <p:nvPr/>
        </p:nvSpPr>
        <p:spPr>
          <a:xfrm>
            <a:off x="1481328" y="649224"/>
            <a:ext cx="7315200" cy="256032"/>
          </a:xfrm>
          <a:prstGeom prst="rect">
            <a:avLst/>
          </a:prstGeom>
          <a:noFill/>
          <a:ln/>
        </p:spPr>
        <p:txBody>
          <a:bodyPr wrap="square" lIns="0" tIns="0" rIns="0" bIns="0" rtlCol="0" anchor="ctr"/>
          <a:lstStyle/>
          <a:p>
            <a:pPr indent="0" marL="0">
              <a:buNone/>
            </a:pPr>
            <a:r>
              <a:rPr lang="en-US" sz="1150" b="1" spc="220" kern="0" dirty="0">
                <a:solidFill>
                  <a:srgbClr val="3DDC97"/>
                </a:solidFill>
                <a:latin typeface="Arial" pitchFamily="34" charset="0"/>
                <a:ea typeface="Arial" pitchFamily="34" charset="-122"/>
                <a:cs typeface="Arial" pitchFamily="34" charset="-120"/>
              </a:rPr>
              <a:t>PRIVACY</a:t>
            </a:r>
            <a:endParaRPr lang="en-US" sz="1150" dirty="0"/>
          </a:p>
        </p:txBody>
      </p:sp>
      <p:sp>
        <p:nvSpPr>
          <p:cNvPr id="6" name="Text 4"/>
          <p:cNvSpPr/>
          <p:nvPr/>
        </p:nvSpPr>
        <p:spPr>
          <a:xfrm>
            <a:off x="822960" y="1024128"/>
            <a:ext cx="10058400" cy="6400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Your words stay on your computer</a:t>
            </a:r>
            <a:endParaRPr lang="en-US" sz="4000" dirty="0"/>
          </a:p>
        </p:txBody>
      </p:sp>
      <p:sp>
        <p:nvSpPr>
          <p:cNvPr id="7" name="Text 5"/>
          <p:cNvSpPr/>
          <p:nvPr/>
        </p:nvSpPr>
        <p:spPr>
          <a:xfrm>
            <a:off x="822960" y="1691640"/>
            <a:ext cx="10058400" cy="502920"/>
          </a:xfrm>
          <a:prstGeom prst="rect">
            <a:avLst/>
          </a:prstGeom>
          <a:noFill/>
          <a:ln/>
        </p:spPr>
        <p:txBody>
          <a:bodyPr wrap="square" lIns="0" tIns="0" rIns="0" bIns="0" rtlCol="0" anchor="ctr"/>
          <a:lstStyle/>
          <a:p>
            <a:pPr indent="0" marL="0">
              <a:buNone/>
            </a:pPr>
            <a:r>
              <a:rPr lang="en-US" sz="1500" dirty="0">
                <a:solidFill>
                  <a:srgbClr val="C9CCD6"/>
                </a:solidFill>
                <a:latin typeface="Calibri" pitchFamily="34" charset="0"/>
                <a:ea typeface="Calibri" pitchFamily="34" charset="-122"/>
                <a:cs typeface="Calibri" pitchFamily="34" charset="-120"/>
              </a:rPr>
              <a:t>A “local LLM” is just an AI program installed on your own PC — the same way Word is. Point AI365 at it and your questions never travel anywhere.</a:t>
            </a:r>
            <a:endParaRPr lang="en-US" sz="1500" dirty="0"/>
          </a:p>
        </p:txBody>
      </p:sp>
      <p:sp>
        <p:nvSpPr>
          <p:cNvPr id="8" name="Shape 6"/>
          <p:cNvSpPr/>
          <p:nvPr/>
        </p:nvSpPr>
        <p:spPr>
          <a:xfrm>
            <a:off x="822960" y="2377440"/>
            <a:ext cx="5029200" cy="2514600"/>
          </a:xfrm>
          <a:prstGeom prst="rect">
            <a:avLst/>
          </a:prstGeom>
          <a:solidFill>
            <a:srgbClr val="262932"/>
          </a:solidFill>
          <a:ln w="12700">
            <a:solidFill>
              <a:srgbClr val="333333"/>
            </a:solidFill>
            <a:prstDash val="solid"/>
          </a:ln>
        </p:spPr>
      </p:sp>
      <p:sp>
        <p:nvSpPr>
          <p:cNvPr id="9" name="Text 7"/>
          <p:cNvSpPr/>
          <p:nvPr/>
        </p:nvSpPr>
        <p:spPr>
          <a:xfrm>
            <a:off x="1234440" y="2651760"/>
            <a:ext cx="4206240" cy="365760"/>
          </a:xfrm>
          <a:prstGeom prst="rect">
            <a:avLst/>
          </a:prstGeom>
          <a:noFill/>
          <a:ln/>
        </p:spPr>
        <p:txBody>
          <a:bodyPr wrap="square" lIns="0" tIns="0" rIns="0" bIns="0" rtlCol="0" anchor="ctr"/>
          <a:lstStyle/>
          <a:p>
            <a:pPr indent="0" marL="0">
              <a:buNone/>
            </a:pPr>
            <a:r>
              <a:rPr lang="en-US" sz="1600" b="1" dirty="0">
                <a:solidFill>
                  <a:srgbClr val="6A6B72"/>
                </a:solidFill>
                <a:latin typeface="Arial" pitchFamily="34" charset="0"/>
                <a:ea typeface="Arial" pitchFamily="34" charset="-122"/>
                <a:cs typeface="Arial" pitchFamily="34" charset="-120"/>
              </a:rPr>
              <a:t>The usual cloud assistant</a:t>
            </a:r>
            <a:endParaRPr lang="en-US" sz="1600" dirty="0"/>
          </a:p>
        </p:txBody>
      </p:sp>
      <p:sp>
        <p:nvSpPr>
          <p:cNvPr id="10" name="Shape 8"/>
          <p:cNvSpPr/>
          <p:nvPr/>
        </p:nvSpPr>
        <p:spPr>
          <a:xfrm>
            <a:off x="1234440" y="3300984"/>
            <a:ext cx="128016" cy="128016"/>
          </a:xfrm>
          <a:prstGeom prst="rect">
            <a:avLst/>
          </a:prstGeom>
          <a:solidFill>
            <a:srgbClr val="6A6B72"/>
          </a:solidFill>
          <a:ln w="12700">
            <a:solidFill>
              <a:srgbClr val="333333"/>
            </a:solidFill>
            <a:prstDash val="solid"/>
          </a:ln>
        </p:spPr>
      </p:sp>
      <p:sp>
        <p:nvSpPr>
          <p:cNvPr id="11" name="Text 9"/>
          <p:cNvSpPr/>
          <p:nvPr/>
        </p:nvSpPr>
        <p:spPr>
          <a:xfrm>
            <a:off x="1536192" y="3182112"/>
            <a:ext cx="3931920" cy="384048"/>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Your email is copied to their servers</a:t>
            </a:r>
            <a:endParaRPr lang="en-US" sz="1350" dirty="0"/>
          </a:p>
        </p:txBody>
      </p:sp>
      <p:sp>
        <p:nvSpPr>
          <p:cNvPr id="12" name="Shape 10"/>
          <p:cNvSpPr/>
          <p:nvPr/>
        </p:nvSpPr>
        <p:spPr>
          <a:xfrm>
            <a:off x="1234440" y="3849624"/>
            <a:ext cx="128016" cy="128016"/>
          </a:xfrm>
          <a:prstGeom prst="rect">
            <a:avLst/>
          </a:prstGeom>
          <a:solidFill>
            <a:srgbClr val="6A6B72"/>
          </a:solidFill>
          <a:ln w="12700">
            <a:solidFill>
              <a:srgbClr val="333333"/>
            </a:solidFill>
            <a:prstDash val="solid"/>
          </a:ln>
        </p:spPr>
      </p:sp>
      <p:sp>
        <p:nvSpPr>
          <p:cNvPr id="13" name="Text 11"/>
          <p:cNvSpPr/>
          <p:nvPr/>
        </p:nvSpPr>
        <p:spPr>
          <a:xfrm>
            <a:off x="1536192" y="3730752"/>
            <a:ext cx="3931920" cy="384048"/>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A monthly bill for every person who uses it</a:t>
            </a:r>
            <a:endParaRPr lang="en-US" sz="1350" dirty="0"/>
          </a:p>
        </p:txBody>
      </p:sp>
      <p:sp>
        <p:nvSpPr>
          <p:cNvPr id="14" name="Shape 12"/>
          <p:cNvSpPr/>
          <p:nvPr/>
        </p:nvSpPr>
        <p:spPr>
          <a:xfrm>
            <a:off x="1234440" y="4398264"/>
            <a:ext cx="128016" cy="128016"/>
          </a:xfrm>
          <a:prstGeom prst="rect">
            <a:avLst/>
          </a:prstGeom>
          <a:solidFill>
            <a:srgbClr val="6A6B72"/>
          </a:solidFill>
          <a:ln w="12700">
            <a:solidFill>
              <a:srgbClr val="333333"/>
            </a:solidFill>
            <a:prstDash val="solid"/>
          </a:ln>
        </p:spPr>
      </p:sp>
      <p:sp>
        <p:nvSpPr>
          <p:cNvPr id="15" name="Text 13"/>
          <p:cNvSpPr/>
          <p:nvPr/>
        </p:nvSpPr>
        <p:spPr>
          <a:xfrm>
            <a:off x="1536192" y="4279392"/>
            <a:ext cx="3931920" cy="384048"/>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Their outage is your outage</a:t>
            </a:r>
            <a:endParaRPr lang="en-US" sz="1350" dirty="0"/>
          </a:p>
        </p:txBody>
      </p:sp>
      <p:sp>
        <p:nvSpPr>
          <p:cNvPr id="16" name="Shape 14"/>
          <p:cNvSpPr/>
          <p:nvPr/>
        </p:nvSpPr>
        <p:spPr>
          <a:xfrm>
            <a:off x="6309360" y="2377440"/>
            <a:ext cx="5029200" cy="2514600"/>
          </a:xfrm>
          <a:prstGeom prst="rect">
            <a:avLst/>
          </a:prstGeom>
          <a:solidFill>
            <a:srgbClr val="1E2A45"/>
          </a:solidFill>
          <a:ln w="12700">
            <a:solidFill>
              <a:srgbClr val="3F6CD1"/>
            </a:solidFill>
            <a:prstDash val="solid"/>
          </a:ln>
        </p:spPr>
      </p:sp>
      <p:sp>
        <p:nvSpPr>
          <p:cNvPr id="17" name="Text 15"/>
          <p:cNvSpPr/>
          <p:nvPr/>
        </p:nvSpPr>
        <p:spPr>
          <a:xfrm>
            <a:off x="6720840" y="2651760"/>
            <a:ext cx="4206240" cy="365760"/>
          </a:xfrm>
          <a:prstGeom prst="rect">
            <a:avLst/>
          </a:prstGeom>
          <a:noFill/>
          <a:ln/>
        </p:spPr>
        <p:txBody>
          <a:bodyPr wrap="square" lIns="0" tIns="0" rIns="0" bIns="0" rtlCol="0" anchor="ctr"/>
          <a:lstStyle/>
          <a:p>
            <a:pPr indent="0" marL="0">
              <a:buNone/>
            </a:pPr>
            <a:r>
              <a:rPr lang="en-US" sz="1600" b="1" dirty="0">
                <a:solidFill>
                  <a:srgbClr val="3DDC97"/>
                </a:solidFill>
                <a:latin typeface="Arial" pitchFamily="34" charset="0"/>
                <a:ea typeface="Arial" pitchFamily="34" charset="-122"/>
                <a:cs typeface="Arial" pitchFamily="34" charset="-120"/>
              </a:rPr>
              <a:t>AI365 with a local model</a:t>
            </a:r>
            <a:endParaRPr lang="en-US" sz="1600" dirty="0"/>
          </a:p>
        </p:txBody>
      </p:sp>
      <p:sp>
        <p:nvSpPr>
          <p:cNvPr id="18" name="Shape 16"/>
          <p:cNvSpPr/>
          <p:nvPr/>
        </p:nvSpPr>
        <p:spPr>
          <a:xfrm>
            <a:off x="6720840" y="3300984"/>
            <a:ext cx="128016" cy="128016"/>
          </a:xfrm>
          <a:prstGeom prst="rect">
            <a:avLst/>
          </a:prstGeom>
          <a:solidFill>
            <a:srgbClr val="3DDC97"/>
          </a:solidFill>
          <a:ln w="12700">
            <a:solidFill>
              <a:srgbClr val="333333"/>
            </a:solidFill>
            <a:prstDash val="solid"/>
          </a:ln>
        </p:spPr>
      </p:sp>
      <p:sp>
        <p:nvSpPr>
          <p:cNvPr id="19" name="Text 17"/>
          <p:cNvSpPr/>
          <p:nvPr/>
        </p:nvSpPr>
        <p:spPr>
          <a:xfrm>
            <a:off x="7022592" y="3182112"/>
            <a:ext cx="3931920" cy="3840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AI program runs on your machine</a:t>
            </a:r>
            <a:endParaRPr lang="en-US" sz="1350" dirty="0"/>
          </a:p>
        </p:txBody>
      </p:sp>
      <p:sp>
        <p:nvSpPr>
          <p:cNvPr id="20" name="Shape 18"/>
          <p:cNvSpPr/>
          <p:nvPr/>
        </p:nvSpPr>
        <p:spPr>
          <a:xfrm>
            <a:off x="6720840" y="3849624"/>
            <a:ext cx="128016" cy="128016"/>
          </a:xfrm>
          <a:prstGeom prst="rect">
            <a:avLst/>
          </a:prstGeom>
          <a:solidFill>
            <a:srgbClr val="3DDC97"/>
          </a:solidFill>
          <a:ln w="12700">
            <a:solidFill>
              <a:srgbClr val="333333"/>
            </a:solidFill>
            <a:prstDash val="solid"/>
          </a:ln>
        </p:spPr>
      </p:sp>
      <p:sp>
        <p:nvSpPr>
          <p:cNvPr id="21" name="Text 19"/>
          <p:cNvSpPr/>
          <p:nvPr/>
        </p:nvSpPr>
        <p:spPr>
          <a:xfrm>
            <a:off x="7022592" y="3730752"/>
            <a:ext cx="3931920" cy="3840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Your email never leaves the building</a:t>
            </a:r>
            <a:endParaRPr lang="en-US" sz="1350" dirty="0"/>
          </a:p>
        </p:txBody>
      </p:sp>
      <p:sp>
        <p:nvSpPr>
          <p:cNvPr id="22" name="Shape 20"/>
          <p:cNvSpPr/>
          <p:nvPr/>
        </p:nvSpPr>
        <p:spPr>
          <a:xfrm>
            <a:off x="6720840" y="4398264"/>
            <a:ext cx="128016" cy="128016"/>
          </a:xfrm>
          <a:prstGeom prst="rect">
            <a:avLst/>
          </a:prstGeom>
          <a:solidFill>
            <a:srgbClr val="3DDC97"/>
          </a:solidFill>
          <a:ln w="12700">
            <a:solidFill>
              <a:srgbClr val="333333"/>
            </a:solidFill>
            <a:prstDash val="solid"/>
          </a:ln>
        </p:spPr>
      </p:sp>
      <p:sp>
        <p:nvSpPr>
          <p:cNvPr id="23" name="Text 21"/>
          <p:cNvSpPr/>
          <p:nvPr/>
        </p:nvSpPr>
        <p:spPr>
          <a:xfrm>
            <a:off x="7022592" y="4279392"/>
            <a:ext cx="3931920" cy="3840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Works with the network unplugged</a:t>
            </a:r>
            <a:endParaRPr lang="en-US" sz="1350" dirty="0"/>
          </a:p>
        </p:txBody>
      </p:sp>
      <p:sp>
        <p:nvSpPr>
          <p:cNvPr id="24" name="Shape 22"/>
          <p:cNvSpPr/>
          <p:nvPr/>
        </p:nvSpPr>
        <p:spPr>
          <a:xfrm>
            <a:off x="822960" y="5257800"/>
            <a:ext cx="10515600" cy="777240"/>
          </a:xfrm>
          <a:prstGeom prst="rect">
            <a:avLst/>
          </a:prstGeom>
          <a:solidFill>
            <a:srgbClr val="262932"/>
          </a:solidFill>
          <a:ln w="12700">
            <a:solidFill>
              <a:srgbClr val="333333"/>
            </a:solidFill>
            <a:prstDash val="solid"/>
          </a:ln>
        </p:spPr>
      </p:sp>
      <p:sp>
        <p:nvSpPr>
          <p:cNvPr id="25" name="Shape 23"/>
          <p:cNvSpPr/>
          <p:nvPr/>
        </p:nvSpPr>
        <p:spPr>
          <a:xfrm>
            <a:off x="1143000" y="5568696"/>
            <a:ext cx="146304" cy="146304"/>
          </a:xfrm>
          <a:prstGeom prst="rect">
            <a:avLst/>
          </a:prstGeom>
          <a:solidFill>
            <a:srgbClr val="F5C451"/>
          </a:solidFill>
          <a:ln w="12700">
            <a:solidFill>
              <a:srgbClr val="333333"/>
            </a:solidFill>
            <a:prstDash val="solid"/>
          </a:ln>
        </p:spPr>
      </p:sp>
      <p:sp>
        <p:nvSpPr>
          <p:cNvPr id="26" name="Text 24"/>
          <p:cNvSpPr/>
          <p:nvPr/>
        </p:nvSpPr>
        <p:spPr>
          <a:xfrm>
            <a:off x="1463040" y="5257800"/>
            <a:ext cx="9509760" cy="77724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Honest footnote: AI365 can also talk to Google Gemini if you prefer it. The model you pick in the drop-down decides where your words go — and that choice is always yours.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822960" y="713232"/>
            <a:ext cx="118872" cy="118872"/>
          </a:xfrm>
          <a:prstGeom prst="rect">
            <a:avLst/>
          </a:prstGeom>
          <a:solidFill>
            <a:srgbClr val="F5C451"/>
          </a:solidFill>
          <a:ln w="12700">
            <a:solidFill>
              <a:srgbClr val="333333"/>
            </a:solidFill>
            <a:prstDash val="solid"/>
          </a:ln>
        </p:spPr>
      </p:sp>
      <p:sp>
        <p:nvSpPr>
          <p:cNvPr id="3" name="Shape 1"/>
          <p:cNvSpPr/>
          <p:nvPr/>
        </p:nvSpPr>
        <p:spPr>
          <a:xfrm>
            <a:off x="1005840" y="713232"/>
            <a:ext cx="118872" cy="118872"/>
          </a:xfrm>
          <a:prstGeom prst="rect">
            <a:avLst/>
          </a:prstGeom>
          <a:solidFill>
            <a:srgbClr val="F5C451"/>
          </a:solidFill>
          <a:ln w="12700">
            <a:solidFill>
              <a:srgbClr val="333333"/>
            </a:solidFill>
            <a:prstDash val="solid"/>
          </a:ln>
        </p:spPr>
      </p:sp>
      <p:sp>
        <p:nvSpPr>
          <p:cNvPr id="4" name="Shape 2"/>
          <p:cNvSpPr/>
          <p:nvPr/>
        </p:nvSpPr>
        <p:spPr>
          <a:xfrm>
            <a:off x="1188720" y="713232"/>
            <a:ext cx="118872" cy="118872"/>
          </a:xfrm>
          <a:prstGeom prst="rect">
            <a:avLst/>
          </a:prstGeom>
          <a:solidFill>
            <a:srgbClr val="F5C451"/>
          </a:solidFill>
          <a:ln w="12700">
            <a:solidFill>
              <a:srgbClr val="333333"/>
            </a:solidFill>
            <a:prstDash val="solid"/>
          </a:ln>
        </p:spPr>
      </p:sp>
      <p:sp>
        <p:nvSpPr>
          <p:cNvPr id="5" name="Text 3"/>
          <p:cNvSpPr/>
          <p:nvPr/>
        </p:nvSpPr>
        <p:spPr>
          <a:xfrm>
            <a:off x="1481328" y="649224"/>
            <a:ext cx="7315200" cy="256032"/>
          </a:xfrm>
          <a:prstGeom prst="rect">
            <a:avLst/>
          </a:prstGeom>
          <a:noFill/>
          <a:ln/>
        </p:spPr>
        <p:txBody>
          <a:bodyPr wrap="square" lIns="0" tIns="0" rIns="0" bIns="0" rtlCol="0" anchor="ctr"/>
          <a:lstStyle/>
          <a:p>
            <a:pPr indent="0" marL="0">
              <a:buNone/>
            </a:pPr>
            <a:r>
              <a:rPr lang="en-US" sz="1150" b="1" spc="220" kern="0" dirty="0">
                <a:solidFill>
                  <a:srgbClr val="6E7382"/>
                </a:solidFill>
                <a:latin typeface="Arial" pitchFamily="34" charset="0"/>
                <a:ea typeface="Arial" pitchFamily="34" charset="-122"/>
                <a:cs typeface="Arial" pitchFamily="34" charset="-120"/>
              </a:rPr>
              <a:t>COST</a:t>
            </a:r>
            <a:endParaRPr lang="en-US" sz="1150" dirty="0"/>
          </a:p>
        </p:txBody>
      </p:sp>
      <p:sp>
        <p:nvSpPr>
          <p:cNvPr id="6" name="Text 4"/>
          <p:cNvSpPr/>
          <p:nvPr/>
        </p:nvSpPr>
        <p:spPr>
          <a:xfrm>
            <a:off x="822960" y="1024128"/>
            <a:ext cx="8686800" cy="640080"/>
          </a:xfrm>
          <a:prstGeom prst="rect">
            <a:avLst/>
          </a:prstGeom>
          <a:noFill/>
          <a:ln/>
        </p:spPr>
        <p:txBody>
          <a:bodyPr wrap="square" lIns="0" tIns="0" rIns="0" bIns="0" rtlCol="0" anchor="ctr"/>
          <a:lstStyle/>
          <a:p>
            <a:pPr indent="0" marL="0">
              <a:buNone/>
            </a:pPr>
            <a:r>
              <a:rPr lang="en-US" sz="4000" b="1" dirty="0">
                <a:solidFill>
                  <a:srgbClr val="1A1C24"/>
                </a:solidFill>
                <a:latin typeface="Arial" pitchFamily="34" charset="0"/>
                <a:ea typeface="Arial" pitchFamily="34" charset="-122"/>
                <a:cs typeface="Arial" pitchFamily="34" charset="-120"/>
              </a:rPr>
              <a:t>Free of charge, genuinely</a:t>
            </a:r>
            <a:endParaRPr lang="en-US" sz="4000" dirty="0"/>
          </a:p>
        </p:txBody>
      </p:sp>
      <p:sp>
        <p:nvSpPr>
          <p:cNvPr id="7" name="Text 5"/>
          <p:cNvSpPr/>
          <p:nvPr/>
        </p:nvSpPr>
        <p:spPr>
          <a:xfrm>
            <a:off x="822960" y="1691640"/>
            <a:ext cx="8961120" cy="502920"/>
          </a:xfrm>
          <a:prstGeom prst="rect">
            <a:avLst/>
          </a:prstGeom>
          <a:noFill/>
          <a:ln/>
        </p:spPr>
        <p:txBody>
          <a:bodyPr wrap="square" lIns="0" tIns="0" rIns="0" bIns="0" rtlCol="0" anchor="ctr"/>
          <a:lstStyle/>
          <a:p>
            <a:pPr indent="0" marL="0">
              <a:buNone/>
            </a:pPr>
            <a:r>
              <a:rPr lang="en-US" sz="1500" dirty="0">
                <a:solidFill>
                  <a:srgbClr val="6E7382"/>
                </a:solidFill>
                <a:latin typeface="Calibri" pitchFamily="34" charset="0"/>
                <a:ea typeface="Calibri" pitchFamily="34" charset="-122"/>
                <a:cs typeface="Calibri" pitchFamily="34" charset="-120"/>
              </a:rPr>
              <a:t>No seat licences, no monthly invoice, no sales call. The add-in is open source and the models it talks to can be free ones running on your own hardware.</a:t>
            </a:r>
            <a:endParaRPr lang="en-US" sz="1500" dirty="0"/>
          </a:p>
        </p:txBody>
      </p:sp>
      <p:sp>
        <p:nvSpPr>
          <p:cNvPr id="8" name="Shape 6"/>
          <p:cNvSpPr/>
          <p:nvPr/>
        </p:nvSpPr>
        <p:spPr>
          <a:xfrm>
            <a:off x="822960" y="2423160"/>
            <a:ext cx="2423160" cy="1783080"/>
          </a:xfrm>
          <a:prstGeom prst="rect">
            <a:avLst/>
          </a:prstGeom>
          <a:solidFill>
            <a:srgbClr val="FFFFFF"/>
          </a:solidFill>
          <a:ln w="12700">
            <a:solidFill>
              <a:srgbClr val="333333"/>
            </a:solidFill>
            <a:prstDash val="solid"/>
          </a:ln>
          <a:effectLst>
            <a:outerShdw sx="100000" sy="100000" kx="0" ky="0" algn="bl" rotWithShape="0" blurRad="177800" dist="38100" dir="5400000">
              <a:srgbClr val="8A93A8">
                <a:alpha val="20000"/>
              </a:srgbClr>
            </a:outerShdw>
          </a:effectLst>
        </p:spPr>
      </p:sp>
      <p:sp>
        <p:nvSpPr>
          <p:cNvPr id="9" name="Shape 7"/>
          <p:cNvSpPr/>
          <p:nvPr/>
        </p:nvSpPr>
        <p:spPr>
          <a:xfrm>
            <a:off x="1115568" y="2715768"/>
            <a:ext cx="146304" cy="146304"/>
          </a:xfrm>
          <a:prstGeom prst="rect">
            <a:avLst/>
          </a:prstGeom>
          <a:solidFill>
            <a:srgbClr val="5C8FFF"/>
          </a:solidFill>
          <a:ln w="12700">
            <a:solidFill>
              <a:srgbClr val="333333"/>
            </a:solidFill>
            <a:prstDash val="solid"/>
          </a:ln>
        </p:spPr>
      </p:sp>
      <p:sp>
        <p:nvSpPr>
          <p:cNvPr id="10" name="Text 8"/>
          <p:cNvSpPr/>
          <p:nvPr/>
        </p:nvSpPr>
        <p:spPr>
          <a:xfrm>
            <a:off x="1097280" y="2971800"/>
            <a:ext cx="1920240" cy="685800"/>
          </a:xfrm>
          <a:prstGeom prst="rect">
            <a:avLst/>
          </a:prstGeom>
          <a:noFill/>
          <a:ln/>
        </p:spPr>
        <p:txBody>
          <a:bodyPr wrap="square" lIns="0" tIns="0" rIns="0" bIns="0" rtlCol="0" anchor="ctr"/>
          <a:lstStyle/>
          <a:p>
            <a:pPr indent="0" marL="0">
              <a:buNone/>
            </a:pPr>
            <a:r>
              <a:rPr lang="en-US" sz="4400" b="1" dirty="0">
                <a:solidFill>
                  <a:srgbClr val="1A1C24"/>
                </a:solidFill>
                <a:latin typeface="Arial" pitchFamily="34" charset="0"/>
                <a:ea typeface="Arial" pitchFamily="34" charset="-122"/>
                <a:cs typeface="Arial" pitchFamily="34" charset="-120"/>
              </a:rPr>
              <a:t>€0</a:t>
            </a:r>
            <a:endParaRPr lang="en-US" sz="4400" dirty="0"/>
          </a:p>
        </p:txBody>
      </p:sp>
      <p:sp>
        <p:nvSpPr>
          <p:cNvPr id="11" name="Text 9"/>
          <p:cNvSpPr/>
          <p:nvPr/>
        </p:nvSpPr>
        <p:spPr>
          <a:xfrm>
            <a:off x="1115568" y="3657600"/>
            <a:ext cx="1874520" cy="502920"/>
          </a:xfrm>
          <a:prstGeom prst="rect">
            <a:avLst/>
          </a:prstGeom>
          <a:noFill/>
          <a:ln/>
        </p:spPr>
        <p:txBody>
          <a:bodyPr wrap="square" lIns="0" tIns="0" rIns="0" bIns="0" rtlCol="0" anchor="t"/>
          <a:lstStyle/>
          <a:p>
            <a:pPr indent="0" marL="0">
              <a:lnSpc>
                <a:spcPts val="1500"/>
              </a:lnSpc>
              <a:buNone/>
            </a:pPr>
            <a:r>
              <a:rPr lang="en-US" sz="1200" dirty="0">
                <a:solidFill>
                  <a:srgbClr val="6E7382"/>
                </a:solidFill>
                <a:latin typeface="Calibri" pitchFamily="34" charset="0"/>
                <a:ea typeface="Calibri" pitchFamily="34" charset="-122"/>
                <a:cs typeface="Calibri" pitchFamily="34" charset="-120"/>
              </a:rPr>
              <a:t>to install and to keep using</a:t>
            </a:r>
            <a:endParaRPr lang="en-US" sz="1200" dirty="0"/>
          </a:p>
        </p:txBody>
      </p:sp>
      <p:sp>
        <p:nvSpPr>
          <p:cNvPr id="12" name="Shape 10"/>
          <p:cNvSpPr/>
          <p:nvPr/>
        </p:nvSpPr>
        <p:spPr>
          <a:xfrm>
            <a:off x="3520440" y="2423160"/>
            <a:ext cx="2423160" cy="1783080"/>
          </a:xfrm>
          <a:prstGeom prst="rect">
            <a:avLst/>
          </a:prstGeom>
          <a:solidFill>
            <a:srgbClr val="FFFFFF"/>
          </a:solidFill>
          <a:ln w="12700">
            <a:solidFill>
              <a:srgbClr val="333333"/>
            </a:solidFill>
            <a:prstDash val="solid"/>
          </a:ln>
          <a:effectLst>
            <a:outerShdw sx="100000" sy="100000" kx="0" ky="0" algn="bl" rotWithShape="0" blurRad="177800" dist="38100" dir="5400000">
              <a:srgbClr val="8A93A8">
                <a:alpha val="20000"/>
              </a:srgbClr>
            </a:outerShdw>
          </a:effectLst>
        </p:spPr>
      </p:sp>
      <p:sp>
        <p:nvSpPr>
          <p:cNvPr id="13" name="Shape 11"/>
          <p:cNvSpPr/>
          <p:nvPr/>
        </p:nvSpPr>
        <p:spPr>
          <a:xfrm>
            <a:off x="3813048" y="2715768"/>
            <a:ext cx="146304" cy="146304"/>
          </a:xfrm>
          <a:prstGeom prst="rect">
            <a:avLst/>
          </a:prstGeom>
          <a:solidFill>
            <a:srgbClr val="3DDC97"/>
          </a:solidFill>
          <a:ln w="12700">
            <a:solidFill>
              <a:srgbClr val="333333"/>
            </a:solidFill>
            <a:prstDash val="solid"/>
          </a:ln>
        </p:spPr>
      </p:sp>
      <p:sp>
        <p:nvSpPr>
          <p:cNvPr id="14" name="Text 12"/>
          <p:cNvSpPr/>
          <p:nvPr/>
        </p:nvSpPr>
        <p:spPr>
          <a:xfrm>
            <a:off x="3794760" y="2971800"/>
            <a:ext cx="1920240" cy="685800"/>
          </a:xfrm>
          <a:prstGeom prst="rect">
            <a:avLst/>
          </a:prstGeom>
          <a:noFill/>
          <a:ln/>
        </p:spPr>
        <p:txBody>
          <a:bodyPr wrap="square" lIns="0" tIns="0" rIns="0" bIns="0" rtlCol="0" anchor="ctr"/>
          <a:lstStyle/>
          <a:p>
            <a:pPr indent="0" marL="0">
              <a:buNone/>
            </a:pPr>
            <a:r>
              <a:rPr lang="en-US" sz="4400" b="1" dirty="0">
                <a:solidFill>
                  <a:srgbClr val="1A1C24"/>
                </a:solidFill>
                <a:latin typeface="Arial" pitchFamily="34" charset="0"/>
                <a:ea typeface="Arial" pitchFamily="34" charset="-122"/>
                <a:cs typeface="Arial" pitchFamily="34" charset="-120"/>
              </a:rPr>
              <a:t>4</a:t>
            </a:r>
            <a:endParaRPr lang="en-US" sz="4400" dirty="0"/>
          </a:p>
        </p:txBody>
      </p:sp>
      <p:sp>
        <p:nvSpPr>
          <p:cNvPr id="15" name="Text 13"/>
          <p:cNvSpPr/>
          <p:nvPr/>
        </p:nvSpPr>
        <p:spPr>
          <a:xfrm>
            <a:off x="3813048" y="3657600"/>
            <a:ext cx="1874520" cy="502920"/>
          </a:xfrm>
          <a:prstGeom prst="rect">
            <a:avLst/>
          </a:prstGeom>
          <a:noFill/>
          <a:ln/>
        </p:spPr>
        <p:txBody>
          <a:bodyPr wrap="square" lIns="0" tIns="0" rIns="0" bIns="0" rtlCol="0" anchor="t"/>
          <a:lstStyle/>
          <a:p>
            <a:pPr indent="0" marL="0">
              <a:lnSpc>
                <a:spcPts val="1500"/>
              </a:lnSpc>
              <a:buNone/>
            </a:pPr>
            <a:r>
              <a:rPr lang="en-US" sz="1200" dirty="0">
                <a:solidFill>
                  <a:srgbClr val="6E7382"/>
                </a:solidFill>
                <a:latin typeface="Calibri" pitchFamily="34" charset="0"/>
                <a:ea typeface="Calibri" pitchFamily="34" charset="-122"/>
                <a:cs typeface="Calibri" pitchFamily="34" charset="-120"/>
              </a:rPr>
              <a:t>Office apps from one installer</a:t>
            </a:r>
            <a:endParaRPr lang="en-US" sz="1200" dirty="0"/>
          </a:p>
        </p:txBody>
      </p:sp>
      <p:sp>
        <p:nvSpPr>
          <p:cNvPr id="16" name="Shape 14"/>
          <p:cNvSpPr/>
          <p:nvPr/>
        </p:nvSpPr>
        <p:spPr>
          <a:xfrm>
            <a:off x="6217920" y="2423160"/>
            <a:ext cx="2423160" cy="1783080"/>
          </a:xfrm>
          <a:prstGeom prst="rect">
            <a:avLst/>
          </a:prstGeom>
          <a:solidFill>
            <a:srgbClr val="FFFFFF"/>
          </a:solidFill>
          <a:ln w="12700">
            <a:solidFill>
              <a:srgbClr val="333333"/>
            </a:solidFill>
            <a:prstDash val="solid"/>
          </a:ln>
          <a:effectLst>
            <a:outerShdw sx="100000" sy="100000" kx="0" ky="0" algn="bl" rotWithShape="0" blurRad="177800" dist="38100" dir="5400000">
              <a:srgbClr val="8A93A8">
                <a:alpha val="20000"/>
              </a:srgbClr>
            </a:outerShdw>
          </a:effectLst>
        </p:spPr>
      </p:sp>
      <p:sp>
        <p:nvSpPr>
          <p:cNvPr id="17" name="Shape 15"/>
          <p:cNvSpPr/>
          <p:nvPr/>
        </p:nvSpPr>
        <p:spPr>
          <a:xfrm>
            <a:off x="6510528" y="2715768"/>
            <a:ext cx="146304" cy="146304"/>
          </a:xfrm>
          <a:prstGeom prst="rect">
            <a:avLst/>
          </a:prstGeom>
          <a:solidFill>
            <a:srgbClr val="F5C451"/>
          </a:solidFill>
          <a:ln w="12700">
            <a:solidFill>
              <a:srgbClr val="333333"/>
            </a:solidFill>
            <a:prstDash val="solid"/>
          </a:ln>
        </p:spPr>
      </p:sp>
      <p:sp>
        <p:nvSpPr>
          <p:cNvPr id="18" name="Text 16"/>
          <p:cNvSpPr/>
          <p:nvPr/>
        </p:nvSpPr>
        <p:spPr>
          <a:xfrm>
            <a:off x="6492240" y="2971800"/>
            <a:ext cx="1920240" cy="685800"/>
          </a:xfrm>
          <a:prstGeom prst="rect">
            <a:avLst/>
          </a:prstGeom>
          <a:noFill/>
          <a:ln/>
        </p:spPr>
        <p:txBody>
          <a:bodyPr wrap="square" lIns="0" tIns="0" rIns="0" bIns="0" rtlCol="0" anchor="ctr"/>
          <a:lstStyle/>
          <a:p>
            <a:pPr indent="0" marL="0">
              <a:buNone/>
            </a:pPr>
            <a:r>
              <a:rPr lang="en-US" sz="4400" b="1" dirty="0">
                <a:solidFill>
                  <a:srgbClr val="1A1C24"/>
                </a:solidFill>
                <a:latin typeface="Arial" pitchFamily="34" charset="0"/>
                <a:ea typeface="Arial" pitchFamily="34" charset="-122"/>
                <a:cs typeface="Arial" pitchFamily="34" charset="-120"/>
              </a:rPr>
              <a:t>0</a:t>
            </a:r>
            <a:endParaRPr lang="en-US" sz="4400" dirty="0"/>
          </a:p>
        </p:txBody>
      </p:sp>
      <p:sp>
        <p:nvSpPr>
          <p:cNvPr id="19" name="Text 17"/>
          <p:cNvSpPr/>
          <p:nvPr/>
        </p:nvSpPr>
        <p:spPr>
          <a:xfrm>
            <a:off x="6510528" y="3657600"/>
            <a:ext cx="1874520" cy="502920"/>
          </a:xfrm>
          <a:prstGeom prst="rect">
            <a:avLst/>
          </a:prstGeom>
          <a:noFill/>
          <a:ln/>
        </p:spPr>
        <p:txBody>
          <a:bodyPr wrap="square" lIns="0" tIns="0" rIns="0" bIns="0" rtlCol="0" anchor="t"/>
          <a:lstStyle/>
          <a:p>
            <a:pPr indent="0" marL="0">
              <a:lnSpc>
                <a:spcPts val="1500"/>
              </a:lnSpc>
              <a:buNone/>
            </a:pPr>
            <a:r>
              <a:rPr lang="en-US" sz="1200" dirty="0">
                <a:solidFill>
                  <a:srgbClr val="6E7382"/>
                </a:solidFill>
                <a:latin typeface="Calibri" pitchFamily="34" charset="0"/>
                <a:ea typeface="Calibri" pitchFamily="34" charset="-122"/>
                <a:cs typeface="Calibri" pitchFamily="34" charset="-120"/>
              </a:rPr>
              <a:t>accounts to create</a:t>
            </a:r>
            <a:endParaRPr lang="en-US" sz="1200" dirty="0"/>
          </a:p>
        </p:txBody>
      </p:sp>
      <p:sp>
        <p:nvSpPr>
          <p:cNvPr id="20" name="Shape 18"/>
          <p:cNvSpPr/>
          <p:nvPr/>
        </p:nvSpPr>
        <p:spPr>
          <a:xfrm>
            <a:off x="8915400" y="2423160"/>
            <a:ext cx="2423160" cy="1783080"/>
          </a:xfrm>
          <a:prstGeom prst="rect">
            <a:avLst/>
          </a:prstGeom>
          <a:solidFill>
            <a:srgbClr val="FFFFFF"/>
          </a:solidFill>
          <a:ln w="12700">
            <a:solidFill>
              <a:srgbClr val="333333"/>
            </a:solidFill>
            <a:prstDash val="solid"/>
          </a:ln>
          <a:effectLst>
            <a:outerShdw sx="100000" sy="100000" kx="0" ky="0" algn="bl" rotWithShape="0" blurRad="177800" dist="38100" dir="5400000">
              <a:srgbClr val="8A93A8">
                <a:alpha val="20000"/>
              </a:srgbClr>
            </a:outerShdw>
          </a:effectLst>
        </p:spPr>
      </p:sp>
      <p:sp>
        <p:nvSpPr>
          <p:cNvPr id="21" name="Shape 19"/>
          <p:cNvSpPr/>
          <p:nvPr/>
        </p:nvSpPr>
        <p:spPr>
          <a:xfrm>
            <a:off x="9208008" y="2715768"/>
            <a:ext cx="146304" cy="146304"/>
          </a:xfrm>
          <a:prstGeom prst="rect">
            <a:avLst/>
          </a:prstGeom>
          <a:solidFill>
            <a:srgbClr val="3F6CD1"/>
          </a:solidFill>
          <a:ln w="12700">
            <a:solidFill>
              <a:srgbClr val="333333"/>
            </a:solidFill>
            <a:prstDash val="solid"/>
          </a:ln>
        </p:spPr>
      </p:sp>
      <p:sp>
        <p:nvSpPr>
          <p:cNvPr id="22" name="Text 20"/>
          <p:cNvSpPr/>
          <p:nvPr/>
        </p:nvSpPr>
        <p:spPr>
          <a:xfrm>
            <a:off x="9189720" y="2971800"/>
            <a:ext cx="1920240" cy="685800"/>
          </a:xfrm>
          <a:prstGeom prst="rect">
            <a:avLst/>
          </a:prstGeom>
          <a:noFill/>
          <a:ln/>
        </p:spPr>
        <p:txBody>
          <a:bodyPr wrap="square" lIns="0" tIns="0" rIns="0" bIns="0" rtlCol="0" anchor="ctr"/>
          <a:lstStyle/>
          <a:p>
            <a:pPr indent="0" marL="0">
              <a:buNone/>
            </a:pPr>
            <a:r>
              <a:rPr lang="en-US" sz="4400" b="1" dirty="0">
                <a:solidFill>
                  <a:srgbClr val="1A1C24"/>
                </a:solidFill>
                <a:latin typeface="Arial" pitchFamily="34" charset="0"/>
                <a:ea typeface="Arial" pitchFamily="34" charset="-122"/>
                <a:cs typeface="Arial" pitchFamily="34" charset="-120"/>
              </a:rPr>
              <a:t>MIT</a:t>
            </a:r>
            <a:endParaRPr lang="en-US" sz="4400" dirty="0"/>
          </a:p>
        </p:txBody>
      </p:sp>
      <p:sp>
        <p:nvSpPr>
          <p:cNvPr id="23" name="Text 21"/>
          <p:cNvSpPr/>
          <p:nvPr/>
        </p:nvSpPr>
        <p:spPr>
          <a:xfrm>
            <a:off x="9208008" y="3657600"/>
            <a:ext cx="1874520" cy="502920"/>
          </a:xfrm>
          <a:prstGeom prst="rect">
            <a:avLst/>
          </a:prstGeom>
          <a:noFill/>
          <a:ln/>
        </p:spPr>
        <p:txBody>
          <a:bodyPr wrap="square" lIns="0" tIns="0" rIns="0" bIns="0" rtlCol="0" anchor="t"/>
          <a:lstStyle/>
          <a:p>
            <a:pPr indent="0" marL="0">
              <a:lnSpc>
                <a:spcPts val="1500"/>
              </a:lnSpc>
              <a:buNone/>
            </a:pPr>
            <a:r>
              <a:rPr lang="en-US" sz="1200" dirty="0">
                <a:solidFill>
                  <a:srgbClr val="6E7382"/>
                </a:solidFill>
                <a:latin typeface="Calibri" pitchFamily="34" charset="0"/>
                <a:ea typeface="Calibri" pitchFamily="34" charset="-122"/>
                <a:cs typeface="Calibri" pitchFamily="34" charset="-120"/>
              </a:rPr>
              <a:t>open source licence</a:t>
            </a:r>
            <a:endParaRPr lang="en-US" sz="1200" dirty="0"/>
          </a:p>
        </p:txBody>
      </p:sp>
      <p:sp>
        <p:nvSpPr>
          <p:cNvPr id="24" name="Shape 22"/>
          <p:cNvSpPr/>
          <p:nvPr/>
        </p:nvSpPr>
        <p:spPr>
          <a:xfrm>
            <a:off x="822960" y="4617720"/>
            <a:ext cx="146304" cy="146304"/>
          </a:xfrm>
          <a:prstGeom prst="rect">
            <a:avLst/>
          </a:prstGeom>
          <a:solidFill>
            <a:srgbClr val="F5C451"/>
          </a:solidFill>
          <a:ln w="12700">
            <a:solidFill>
              <a:srgbClr val="333333"/>
            </a:solidFill>
            <a:prstDash val="solid"/>
          </a:ln>
        </p:spPr>
      </p:sp>
      <p:sp>
        <p:nvSpPr>
          <p:cNvPr id="25" name="Text 23"/>
          <p:cNvSpPr/>
          <p:nvPr/>
        </p:nvSpPr>
        <p:spPr>
          <a:xfrm>
            <a:off x="1152144" y="4507992"/>
            <a:ext cx="2926080" cy="365760"/>
          </a:xfrm>
          <a:prstGeom prst="rect">
            <a:avLst/>
          </a:prstGeom>
          <a:noFill/>
          <a:ln/>
        </p:spPr>
        <p:txBody>
          <a:bodyPr wrap="square" lIns="0" tIns="0" rIns="0" bIns="0" rtlCol="0" anchor="ctr"/>
          <a:lstStyle/>
          <a:p>
            <a:pPr indent="0" marL="0">
              <a:buNone/>
            </a:pPr>
            <a:r>
              <a:rPr lang="en-US" sz="1400" b="1" dirty="0">
                <a:solidFill>
                  <a:srgbClr val="1A1C24"/>
                </a:solidFill>
                <a:latin typeface="Arial" pitchFamily="34" charset="0"/>
                <a:ea typeface="Arial" pitchFamily="34" charset="-122"/>
                <a:cs typeface="Arial" pitchFamily="34" charset="-120"/>
              </a:rPr>
              <a:t>Nothing to subscribe to</a:t>
            </a:r>
            <a:endParaRPr lang="en-US" sz="1400" dirty="0"/>
          </a:p>
        </p:txBody>
      </p:sp>
      <p:sp>
        <p:nvSpPr>
          <p:cNvPr id="26" name="Text 24"/>
          <p:cNvSpPr/>
          <p:nvPr/>
        </p:nvSpPr>
        <p:spPr>
          <a:xfrm>
            <a:off x="1152144" y="4892040"/>
            <a:ext cx="2971800" cy="91440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You download an installer and run it. There is no portal, no seat count and no renewal date.</a:t>
            </a:r>
            <a:endParaRPr lang="en-US" sz="1250" dirty="0"/>
          </a:p>
        </p:txBody>
      </p:sp>
      <p:sp>
        <p:nvSpPr>
          <p:cNvPr id="27" name="Shape 25"/>
          <p:cNvSpPr/>
          <p:nvPr/>
        </p:nvSpPr>
        <p:spPr>
          <a:xfrm>
            <a:off x="4434840" y="4617720"/>
            <a:ext cx="146304" cy="146304"/>
          </a:xfrm>
          <a:prstGeom prst="rect">
            <a:avLst/>
          </a:prstGeom>
          <a:solidFill>
            <a:srgbClr val="F5C451"/>
          </a:solidFill>
          <a:ln w="12700">
            <a:solidFill>
              <a:srgbClr val="333333"/>
            </a:solidFill>
            <a:prstDash val="solid"/>
          </a:ln>
        </p:spPr>
      </p:sp>
      <p:sp>
        <p:nvSpPr>
          <p:cNvPr id="28" name="Text 26"/>
          <p:cNvSpPr/>
          <p:nvPr/>
        </p:nvSpPr>
        <p:spPr>
          <a:xfrm>
            <a:off x="4764024" y="4507992"/>
            <a:ext cx="2926080" cy="365760"/>
          </a:xfrm>
          <a:prstGeom prst="rect">
            <a:avLst/>
          </a:prstGeom>
          <a:noFill/>
          <a:ln/>
        </p:spPr>
        <p:txBody>
          <a:bodyPr wrap="square" lIns="0" tIns="0" rIns="0" bIns="0" rtlCol="0" anchor="ctr"/>
          <a:lstStyle/>
          <a:p>
            <a:pPr indent="0" marL="0">
              <a:buNone/>
            </a:pPr>
            <a:r>
              <a:rPr lang="en-US" sz="1400" b="1" dirty="0">
                <a:solidFill>
                  <a:srgbClr val="1A1C24"/>
                </a:solidFill>
                <a:latin typeface="Arial" pitchFamily="34" charset="0"/>
                <a:ea typeface="Arial" pitchFamily="34" charset="-122"/>
                <a:cs typeface="Arial" pitchFamily="34" charset="-120"/>
              </a:rPr>
              <a:t>Free models exist</a:t>
            </a:r>
            <a:endParaRPr lang="en-US" sz="1400" dirty="0"/>
          </a:p>
        </p:txBody>
      </p:sp>
      <p:sp>
        <p:nvSpPr>
          <p:cNvPr id="29" name="Text 27"/>
          <p:cNvSpPr/>
          <p:nvPr/>
        </p:nvSpPr>
        <p:spPr>
          <a:xfrm>
            <a:off x="4764024" y="4892040"/>
            <a:ext cx="2971800" cy="91440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Capable open models run on an ordinary work laptop at no cost per question.</a:t>
            </a:r>
            <a:endParaRPr lang="en-US" sz="1250" dirty="0"/>
          </a:p>
        </p:txBody>
      </p:sp>
      <p:sp>
        <p:nvSpPr>
          <p:cNvPr id="30" name="Shape 28"/>
          <p:cNvSpPr/>
          <p:nvPr/>
        </p:nvSpPr>
        <p:spPr>
          <a:xfrm>
            <a:off x="8046720" y="4617720"/>
            <a:ext cx="146304" cy="146304"/>
          </a:xfrm>
          <a:prstGeom prst="rect">
            <a:avLst/>
          </a:prstGeom>
          <a:solidFill>
            <a:srgbClr val="F5C451"/>
          </a:solidFill>
          <a:ln w="12700">
            <a:solidFill>
              <a:srgbClr val="333333"/>
            </a:solidFill>
            <a:prstDash val="solid"/>
          </a:ln>
        </p:spPr>
      </p:sp>
      <p:sp>
        <p:nvSpPr>
          <p:cNvPr id="31" name="Text 29"/>
          <p:cNvSpPr/>
          <p:nvPr/>
        </p:nvSpPr>
        <p:spPr>
          <a:xfrm>
            <a:off x="8375904" y="4507992"/>
            <a:ext cx="2926080" cy="365760"/>
          </a:xfrm>
          <a:prstGeom prst="rect">
            <a:avLst/>
          </a:prstGeom>
          <a:noFill/>
          <a:ln/>
        </p:spPr>
        <p:txBody>
          <a:bodyPr wrap="square" lIns="0" tIns="0" rIns="0" bIns="0" rtlCol="0" anchor="ctr"/>
          <a:lstStyle/>
          <a:p>
            <a:pPr indent="0" marL="0">
              <a:buNone/>
            </a:pPr>
            <a:r>
              <a:rPr lang="en-US" sz="1400" b="1" dirty="0">
                <a:solidFill>
                  <a:srgbClr val="1A1C24"/>
                </a:solidFill>
                <a:latin typeface="Arial" pitchFamily="34" charset="0"/>
                <a:ea typeface="Arial" pitchFamily="34" charset="-122"/>
                <a:cs typeface="Arial" pitchFamily="34" charset="-120"/>
              </a:rPr>
              <a:t>No surprise bills</a:t>
            </a:r>
            <a:endParaRPr lang="en-US" sz="1400" dirty="0"/>
          </a:p>
        </p:txBody>
      </p:sp>
      <p:sp>
        <p:nvSpPr>
          <p:cNvPr id="32" name="Text 30"/>
          <p:cNvSpPr/>
          <p:nvPr/>
        </p:nvSpPr>
        <p:spPr>
          <a:xfrm>
            <a:off x="8375904" y="4892040"/>
            <a:ext cx="2971800" cy="91440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A local model has no meter running, so a long chat costs exactly the same as a short one.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822960" y="713232"/>
            <a:ext cx="118872" cy="118872"/>
          </a:xfrm>
          <a:prstGeom prst="rect">
            <a:avLst/>
          </a:prstGeom>
          <a:solidFill>
            <a:srgbClr val="5C8FFF"/>
          </a:solidFill>
          <a:ln w="12700">
            <a:solidFill>
              <a:srgbClr val="333333"/>
            </a:solidFill>
            <a:prstDash val="solid"/>
          </a:ln>
        </p:spPr>
      </p:sp>
      <p:sp>
        <p:nvSpPr>
          <p:cNvPr id="3" name="Shape 1"/>
          <p:cNvSpPr/>
          <p:nvPr/>
        </p:nvSpPr>
        <p:spPr>
          <a:xfrm>
            <a:off x="1005840" y="713232"/>
            <a:ext cx="118872" cy="118872"/>
          </a:xfrm>
          <a:prstGeom prst="rect">
            <a:avLst/>
          </a:prstGeom>
          <a:solidFill>
            <a:srgbClr val="5C8FFF"/>
          </a:solidFill>
          <a:ln w="12700">
            <a:solidFill>
              <a:srgbClr val="333333"/>
            </a:solidFill>
            <a:prstDash val="solid"/>
          </a:ln>
        </p:spPr>
      </p:sp>
      <p:sp>
        <p:nvSpPr>
          <p:cNvPr id="4" name="Shape 2"/>
          <p:cNvSpPr/>
          <p:nvPr/>
        </p:nvSpPr>
        <p:spPr>
          <a:xfrm>
            <a:off x="1188720" y="713232"/>
            <a:ext cx="118872" cy="118872"/>
          </a:xfrm>
          <a:prstGeom prst="rect">
            <a:avLst/>
          </a:prstGeom>
          <a:solidFill>
            <a:srgbClr val="5C8FFF"/>
          </a:solidFill>
          <a:ln w="12700">
            <a:solidFill>
              <a:srgbClr val="333333"/>
            </a:solidFill>
            <a:prstDash val="solid"/>
          </a:ln>
        </p:spPr>
      </p:sp>
      <p:sp>
        <p:nvSpPr>
          <p:cNvPr id="5" name="Text 3"/>
          <p:cNvSpPr/>
          <p:nvPr/>
        </p:nvSpPr>
        <p:spPr>
          <a:xfrm>
            <a:off x="1481328" y="649224"/>
            <a:ext cx="7315200" cy="256032"/>
          </a:xfrm>
          <a:prstGeom prst="rect">
            <a:avLst/>
          </a:prstGeom>
          <a:noFill/>
          <a:ln/>
        </p:spPr>
        <p:txBody>
          <a:bodyPr wrap="square" lIns="0" tIns="0" rIns="0" bIns="0" rtlCol="0" anchor="ctr"/>
          <a:lstStyle/>
          <a:p>
            <a:pPr indent="0" marL="0">
              <a:buNone/>
            </a:pPr>
            <a:r>
              <a:rPr lang="en-US" sz="1150" b="1" spc="220" kern="0" dirty="0">
                <a:solidFill>
                  <a:srgbClr val="6E7382"/>
                </a:solidFill>
                <a:latin typeface="Arial" pitchFamily="34" charset="0"/>
                <a:ea typeface="Arial" pitchFamily="34" charset="-122"/>
                <a:cs typeface="Arial" pitchFamily="34" charset="-120"/>
              </a:rPr>
              <a:t>ACCURACY AND CONTROL</a:t>
            </a:r>
            <a:endParaRPr lang="en-US" sz="1150" dirty="0"/>
          </a:p>
        </p:txBody>
      </p:sp>
      <p:sp>
        <p:nvSpPr>
          <p:cNvPr id="6" name="Text 4"/>
          <p:cNvSpPr/>
          <p:nvPr/>
        </p:nvSpPr>
        <p:spPr>
          <a:xfrm>
            <a:off x="822960" y="1024128"/>
            <a:ext cx="9601200" cy="640080"/>
          </a:xfrm>
          <a:prstGeom prst="rect">
            <a:avLst/>
          </a:prstGeom>
          <a:noFill/>
          <a:ln/>
        </p:spPr>
        <p:txBody>
          <a:bodyPr wrap="square" lIns="0" tIns="0" rIns="0" bIns="0" rtlCol="0" anchor="ctr"/>
          <a:lstStyle/>
          <a:p>
            <a:pPr indent="0" marL="0">
              <a:buNone/>
            </a:pPr>
            <a:r>
              <a:rPr lang="en-US" sz="4000" b="1" dirty="0">
                <a:solidFill>
                  <a:srgbClr val="1A1C24"/>
                </a:solidFill>
                <a:latin typeface="Arial" pitchFamily="34" charset="0"/>
                <a:ea typeface="Arial" pitchFamily="34" charset="-122"/>
                <a:cs typeface="Arial" pitchFamily="34" charset="-120"/>
              </a:rPr>
              <a:t>Answers drawn from your actual work</a:t>
            </a:r>
            <a:endParaRPr lang="en-US" sz="4000" dirty="0"/>
          </a:p>
        </p:txBody>
      </p:sp>
      <p:sp>
        <p:nvSpPr>
          <p:cNvPr id="7" name="Shape 5"/>
          <p:cNvSpPr/>
          <p:nvPr/>
        </p:nvSpPr>
        <p:spPr>
          <a:xfrm>
            <a:off x="822960" y="2048256"/>
            <a:ext cx="274320" cy="274320"/>
          </a:xfrm>
          <a:prstGeom prst="rect">
            <a:avLst/>
          </a:prstGeom>
          <a:solidFill>
            <a:srgbClr val="5C8FFF"/>
          </a:solidFill>
          <a:ln w="12700">
            <a:solidFill>
              <a:srgbClr val="333333"/>
            </a:solidFill>
            <a:prstDash val="solid"/>
          </a:ln>
        </p:spPr>
      </p:sp>
      <p:sp>
        <p:nvSpPr>
          <p:cNvPr id="8" name="Text 6"/>
          <p:cNvSpPr/>
          <p:nvPr/>
        </p:nvSpPr>
        <p:spPr>
          <a:xfrm>
            <a:off x="822960" y="20482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9" name="Text 7"/>
          <p:cNvSpPr/>
          <p:nvPr/>
        </p:nvSpPr>
        <p:spPr>
          <a:xfrm>
            <a:off x="1298448" y="1965960"/>
            <a:ext cx="5394960" cy="384048"/>
          </a:xfrm>
          <a:prstGeom prst="rect">
            <a:avLst/>
          </a:prstGeom>
          <a:noFill/>
          <a:ln/>
        </p:spPr>
        <p:txBody>
          <a:bodyPr wrap="square" lIns="0" tIns="0" rIns="0" bIns="0" rtlCol="0" anchor="ctr"/>
          <a:lstStyle/>
          <a:p>
            <a:pPr indent="0" marL="0">
              <a:buNone/>
            </a:pPr>
            <a:r>
              <a:rPr lang="en-US" sz="1600" b="1" dirty="0">
                <a:solidFill>
                  <a:srgbClr val="1A1C24"/>
                </a:solidFill>
                <a:latin typeface="Arial" pitchFamily="34" charset="0"/>
                <a:ea typeface="Arial" pitchFamily="34" charset="-122"/>
                <a:cs typeface="Arial" pitchFamily="34" charset="-120"/>
              </a:rPr>
              <a:t>Grounded in real content</a:t>
            </a:r>
            <a:endParaRPr lang="en-US" sz="1600" dirty="0"/>
          </a:p>
        </p:txBody>
      </p:sp>
      <p:sp>
        <p:nvSpPr>
          <p:cNvPr id="10" name="Text 8"/>
          <p:cNvSpPr/>
          <p:nvPr/>
        </p:nvSpPr>
        <p:spPr>
          <a:xfrm>
            <a:off x="1298448" y="2350008"/>
            <a:ext cx="5486400" cy="54864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It answers from the emails, sheets and slides in front of you — not from vague memory.</a:t>
            </a:r>
            <a:endParaRPr lang="en-US" sz="1250" dirty="0"/>
          </a:p>
        </p:txBody>
      </p:sp>
      <p:sp>
        <p:nvSpPr>
          <p:cNvPr id="11" name="Shape 9"/>
          <p:cNvSpPr/>
          <p:nvPr/>
        </p:nvSpPr>
        <p:spPr>
          <a:xfrm>
            <a:off x="822960" y="3072384"/>
            <a:ext cx="274320" cy="274320"/>
          </a:xfrm>
          <a:prstGeom prst="rect">
            <a:avLst/>
          </a:prstGeom>
          <a:solidFill>
            <a:srgbClr val="5C8FFF"/>
          </a:solidFill>
          <a:ln w="12700">
            <a:solidFill>
              <a:srgbClr val="333333"/>
            </a:solidFill>
            <a:prstDash val="solid"/>
          </a:ln>
        </p:spPr>
      </p:sp>
      <p:sp>
        <p:nvSpPr>
          <p:cNvPr id="12" name="Text 10"/>
          <p:cNvSpPr/>
          <p:nvPr/>
        </p:nvSpPr>
        <p:spPr>
          <a:xfrm>
            <a:off x="822960" y="307238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p:nvPr/>
        </p:nvSpPr>
        <p:spPr>
          <a:xfrm>
            <a:off x="1298448" y="2990088"/>
            <a:ext cx="5394960" cy="384048"/>
          </a:xfrm>
          <a:prstGeom prst="rect">
            <a:avLst/>
          </a:prstGeom>
          <a:noFill/>
          <a:ln/>
        </p:spPr>
        <p:txBody>
          <a:bodyPr wrap="square" lIns="0" tIns="0" rIns="0" bIns="0" rtlCol="0" anchor="ctr"/>
          <a:lstStyle/>
          <a:p>
            <a:pPr indent="0" marL="0">
              <a:buNone/>
            </a:pPr>
            <a:r>
              <a:rPr lang="en-US" sz="1600" b="1" dirty="0">
                <a:solidFill>
                  <a:srgbClr val="1A1C24"/>
                </a:solidFill>
                <a:latin typeface="Arial" pitchFamily="34" charset="0"/>
                <a:ea typeface="Arial" pitchFamily="34" charset="-122"/>
                <a:cs typeface="Arial" pitchFamily="34" charset="-120"/>
              </a:rPr>
              <a:t>You can see what it read</a:t>
            </a:r>
            <a:endParaRPr lang="en-US" sz="1600" dirty="0"/>
          </a:p>
        </p:txBody>
      </p:sp>
      <p:sp>
        <p:nvSpPr>
          <p:cNvPr id="14" name="Text 12"/>
          <p:cNvSpPr/>
          <p:nvPr/>
        </p:nvSpPr>
        <p:spPr>
          <a:xfrm>
            <a:off x="1298448" y="3374136"/>
            <a:ext cx="5486400" cy="54864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Everything it opened appears as a card you can expand and check for yourself.</a:t>
            </a:r>
            <a:endParaRPr lang="en-US" sz="1250" dirty="0"/>
          </a:p>
        </p:txBody>
      </p:sp>
      <p:sp>
        <p:nvSpPr>
          <p:cNvPr id="15" name="Shape 13"/>
          <p:cNvSpPr/>
          <p:nvPr/>
        </p:nvSpPr>
        <p:spPr>
          <a:xfrm>
            <a:off x="822960" y="4096512"/>
            <a:ext cx="274320" cy="274320"/>
          </a:xfrm>
          <a:prstGeom prst="rect">
            <a:avLst/>
          </a:prstGeom>
          <a:solidFill>
            <a:srgbClr val="5C8FFF"/>
          </a:solidFill>
          <a:ln w="12700">
            <a:solidFill>
              <a:srgbClr val="333333"/>
            </a:solidFill>
            <a:prstDash val="solid"/>
          </a:ln>
        </p:spPr>
      </p:sp>
      <p:sp>
        <p:nvSpPr>
          <p:cNvPr id="16" name="Text 14"/>
          <p:cNvSpPr/>
          <p:nvPr/>
        </p:nvSpPr>
        <p:spPr>
          <a:xfrm>
            <a:off x="822960" y="409651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Text 15"/>
          <p:cNvSpPr/>
          <p:nvPr/>
        </p:nvSpPr>
        <p:spPr>
          <a:xfrm>
            <a:off x="1298448" y="4014216"/>
            <a:ext cx="5394960" cy="384048"/>
          </a:xfrm>
          <a:prstGeom prst="rect">
            <a:avLst/>
          </a:prstGeom>
          <a:noFill/>
          <a:ln/>
        </p:spPr>
        <p:txBody>
          <a:bodyPr wrap="square" lIns="0" tIns="0" rIns="0" bIns="0" rtlCol="0" anchor="ctr"/>
          <a:lstStyle/>
          <a:p>
            <a:pPr indent="0" marL="0">
              <a:buNone/>
            </a:pPr>
            <a:r>
              <a:rPr lang="en-US" sz="1600" b="1" dirty="0">
                <a:solidFill>
                  <a:srgbClr val="1A1C24"/>
                </a:solidFill>
                <a:latin typeface="Arial" pitchFamily="34" charset="0"/>
                <a:ea typeface="Arial" pitchFamily="34" charset="-122"/>
                <a:cs typeface="Arial" pitchFamily="34" charset="-120"/>
              </a:rPr>
              <a:t>Small, deliberate portions</a:t>
            </a:r>
            <a:endParaRPr lang="en-US" sz="1600" dirty="0"/>
          </a:p>
        </p:txBody>
      </p:sp>
      <p:sp>
        <p:nvSpPr>
          <p:cNvPr id="18" name="Text 16"/>
          <p:cNvSpPr/>
          <p:nvPr/>
        </p:nvSpPr>
        <p:spPr>
          <a:xfrm>
            <a:off x="1298448" y="4398264"/>
            <a:ext cx="5486400" cy="54864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Ten emails per question at most. Your mailbox is never bulk-uploaded or indexed.</a:t>
            </a:r>
            <a:endParaRPr lang="en-US" sz="1250" dirty="0"/>
          </a:p>
        </p:txBody>
      </p:sp>
      <p:sp>
        <p:nvSpPr>
          <p:cNvPr id="19" name="Shape 17"/>
          <p:cNvSpPr/>
          <p:nvPr/>
        </p:nvSpPr>
        <p:spPr>
          <a:xfrm>
            <a:off x="822960" y="5120640"/>
            <a:ext cx="274320" cy="274320"/>
          </a:xfrm>
          <a:prstGeom prst="rect">
            <a:avLst/>
          </a:prstGeom>
          <a:solidFill>
            <a:srgbClr val="5C8FFF"/>
          </a:solidFill>
          <a:ln w="12700">
            <a:solidFill>
              <a:srgbClr val="333333"/>
            </a:solidFill>
            <a:prstDash val="solid"/>
          </a:ln>
        </p:spPr>
      </p:sp>
      <p:sp>
        <p:nvSpPr>
          <p:cNvPr id="20" name="Text 18"/>
          <p:cNvSpPr/>
          <p:nvPr/>
        </p:nvSpPr>
        <p:spPr>
          <a:xfrm>
            <a:off x="822960" y="51206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1" name="Text 19"/>
          <p:cNvSpPr/>
          <p:nvPr/>
        </p:nvSpPr>
        <p:spPr>
          <a:xfrm>
            <a:off x="1298448" y="5038344"/>
            <a:ext cx="5394960" cy="384048"/>
          </a:xfrm>
          <a:prstGeom prst="rect">
            <a:avLst/>
          </a:prstGeom>
          <a:noFill/>
          <a:ln/>
        </p:spPr>
        <p:txBody>
          <a:bodyPr wrap="square" lIns="0" tIns="0" rIns="0" bIns="0" rtlCol="0" anchor="ctr"/>
          <a:lstStyle/>
          <a:p>
            <a:pPr indent="0" marL="0">
              <a:buNone/>
            </a:pPr>
            <a:r>
              <a:rPr lang="en-US" sz="1600" b="1" dirty="0">
                <a:solidFill>
                  <a:srgbClr val="1A1C24"/>
                </a:solidFill>
                <a:latin typeface="Arial" pitchFamily="34" charset="0"/>
                <a:ea typeface="Arial" pitchFamily="34" charset="-122"/>
                <a:cs typeface="Arial" pitchFamily="34" charset="-120"/>
              </a:rPr>
              <a:t>You always have the last word</a:t>
            </a:r>
            <a:endParaRPr lang="en-US" sz="1600" dirty="0"/>
          </a:p>
        </p:txBody>
      </p:sp>
      <p:sp>
        <p:nvSpPr>
          <p:cNvPr id="22" name="Text 20"/>
          <p:cNvSpPr/>
          <p:nvPr/>
        </p:nvSpPr>
        <p:spPr>
          <a:xfrm>
            <a:off x="1298448" y="5422392"/>
            <a:ext cx="5486400" cy="548640"/>
          </a:xfrm>
          <a:prstGeom prst="rect">
            <a:avLst/>
          </a:prstGeom>
          <a:noFill/>
          <a:ln/>
        </p:spPr>
        <p:txBody>
          <a:bodyPr wrap="square" lIns="0" tIns="0" rIns="0" bIns="0" rtlCol="0" anchor="ctr"/>
          <a:lstStyle/>
          <a:p>
            <a:pPr indent="0" marL="0">
              <a:lnSpc>
                <a:spcPts val="1700"/>
              </a:lnSpc>
              <a:buNone/>
            </a:pPr>
            <a:r>
              <a:rPr lang="en-US" sz="1250" dirty="0">
                <a:solidFill>
                  <a:srgbClr val="6E7382"/>
                </a:solidFill>
                <a:latin typeface="Calibri" pitchFamily="34" charset="0"/>
                <a:ea typeface="Calibri" pitchFamily="34" charset="-122"/>
                <a:cs typeface="Calibri" pitchFamily="34" charset="-120"/>
              </a:rPr>
              <a:t>Whatever it writes arrives as a draft, in Office's own editor, waiting for you.</a:t>
            </a:r>
            <a:endParaRPr lang="en-US" sz="1250" dirty="0"/>
          </a:p>
        </p:txBody>
      </p:sp>
      <p:sp>
        <p:nvSpPr>
          <p:cNvPr id="23" name="Shape 21"/>
          <p:cNvSpPr/>
          <p:nvPr/>
        </p:nvSpPr>
        <p:spPr>
          <a:xfrm>
            <a:off x="7406640" y="1874520"/>
            <a:ext cx="3931920" cy="3977640"/>
          </a:xfrm>
          <a:prstGeom prst="rect">
            <a:avLst/>
          </a:prstGeom>
          <a:solidFill>
            <a:srgbClr val="1A1C24"/>
          </a:solidFill>
          <a:ln w="12700">
            <a:solidFill>
              <a:srgbClr val="333333"/>
            </a:solidFill>
            <a:prstDash val="solid"/>
          </a:ln>
        </p:spPr>
      </p:sp>
      <p:sp>
        <p:nvSpPr>
          <p:cNvPr id="24" name="Text 22"/>
          <p:cNvSpPr/>
          <p:nvPr/>
        </p:nvSpPr>
        <p:spPr>
          <a:xfrm>
            <a:off x="7772400" y="2148840"/>
            <a:ext cx="320040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AI365 can never</a:t>
            </a:r>
            <a:endParaRPr lang="en-US" sz="1700" dirty="0"/>
          </a:p>
        </p:txBody>
      </p:sp>
      <p:sp>
        <p:nvSpPr>
          <p:cNvPr id="25" name="Shape 23"/>
          <p:cNvSpPr/>
          <p:nvPr/>
        </p:nvSpPr>
        <p:spPr>
          <a:xfrm>
            <a:off x="7772400" y="2862072"/>
            <a:ext cx="128016" cy="128016"/>
          </a:xfrm>
          <a:prstGeom prst="rect">
            <a:avLst/>
          </a:prstGeom>
          <a:solidFill>
            <a:srgbClr val="F5C451"/>
          </a:solidFill>
          <a:ln w="12700">
            <a:solidFill>
              <a:srgbClr val="333333"/>
            </a:solidFill>
            <a:prstDash val="solid"/>
          </a:ln>
        </p:spPr>
      </p:sp>
      <p:sp>
        <p:nvSpPr>
          <p:cNvPr id="26" name="Text 24"/>
          <p:cNvSpPr/>
          <p:nvPr/>
        </p:nvSpPr>
        <p:spPr>
          <a:xfrm>
            <a:off x="8074152" y="2743200"/>
            <a:ext cx="3017520" cy="365760"/>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Send an email</a:t>
            </a:r>
            <a:endParaRPr lang="en-US" sz="1350" dirty="0"/>
          </a:p>
        </p:txBody>
      </p:sp>
      <p:sp>
        <p:nvSpPr>
          <p:cNvPr id="27" name="Shape 25"/>
          <p:cNvSpPr/>
          <p:nvPr/>
        </p:nvSpPr>
        <p:spPr>
          <a:xfrm>
            <a:off x="7772400" y="3410712"/>
            <a:ext cx="128016" cy="128016"/>
          </a:xfrm>
          <a:prstGeom prst="rect">
            <a:avLst/>
          </a:prstGeom>
          <a:solidFill>
            <a:srgbClr val="F5C451"/>
          </a:solidFill>
          <a:ln w="12700">
            <a:solidFill>
              <a:srgbClr val="333333"/>
            </a:solidFill>
            <a:prstDash val="solid"/>
          </a:ln>
        </p:spPr>
      </p:sp>
      <p:sp>
        <p:nvSpPr>
          <p:cNvPr id="28" name="Text 26"/>
          <p:cNvSpPr/>
          <p:nvPr/>
        </p:nvSpPr>
        <p:spPr>
          <a:xfrm>
            <a:off x="8074152" y="3291840"/>
            <a:ext cx="3017520" cy="365760"/>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Save or overwrite a file</a:t>
            </a:r>
            <a:endParaRPr lang="en-US" sz="1350" dirty="0"/>
          </a:p>
        </p:txBody>
      </p:sp>
      <p:sp>
        <p:nvSpPr>
          <p:cNvPr id="29" name="Shape 27"/>
          <p:cNvSpPr/>
          <p:nvPr/>
        </p:nvSpPr>
        <p:spPr>
          <a:xfrm>
            <a:off x="7772400" y="3959352"/>
            <a:ext cx="128016" cy="128016"/>
          </a:xfrm>
          <a:prstGeom prst="rect">
            <a:avLst/>
          </a:prstGeom>
          <a:solidFill>
            <a:srgbClr val="F5C451"/>
          </a:solidFill>
          <a:ln w="12700">
            <a:solidFill>
              <a:srgbClr val="333333"/>
            </a:solidFill>
            <a:prstDash val="solid"/>
          </a:ln>
        </p:spPr>
      </p:sp>
      <p:sp>
        <p:nvSpPr>
          <p:cNvPr id="30" name="Text 28"/>
          <p:cNvSpPr/>
          <p:nvPr/>
        </p:nvSpPr>
        <p:spPr>
          <a:xfrm>
            <a:off x="8074152" y="3840480"/>
            <a:ext cx="3017520" cy="365760"/>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Delete anything</a:t>
            </a:r>
            <a:endParaRPr lang="en-US" sz="1350" dirty="0"/>
          </a:p>
        </p:txBody>
      </p:sp>
      <p:sp>
        <p:nvSpPr>
          <p:cNvPr id="31" name="Text 29"/>
          <p:cNvSpPr/>
          <p:nvPr/>
        </p:nvSpPr>
        <p:spPr>
          <a:xfrm>
            <a:off x="7772400" y="4434840"/>
            <a:ext cx="3200400" cy="731520"/>
          </a:xfrm>
          <a:prstGeom prst="rect">
            <a:avLst/>
          </a:prstGeom>
          <a:noFill/>
          <a:ln/>
        </p:spPr>
        <p:txBody>
          <a:bodyPr wrap="square" lIns="0" tIns="0" rIns="0" bIns="0" rtlCol="0" anchor="ctr"/>
          <a:lstStyle/>
          <a:p>
            <a:pPr indent="0" marL="0">
              <a:lnSpc>
                <a:spcPts val="1500"/>
              </a:lnSpc>
              <a:buNone/>
            </a:pPr>
            <a:r>
              <a:rPr lang="en-US" sz="1150" i="1" dirty="0">
                <a:solidFill>
                  <a:srgbClr val="9096A3"/>
                </a:solidFill>
                <a:latin typeface="Calibri" pitchFamily="34" charset="0"/>
                <a:ea typeface="Calibri" pitchFamily="34" charset="-122"/>
                <a:cs typeface="Calibri" pitchFamily="34" charset="-120"/>
              </a:rPr>
              <a:t>Those limits are built into the program itself, not into a polite instruction the AI could talk its way around.</a:t>
            </a:r>
            <a:endParaRPr lang="en-US" sz="1150" dirty="0"/>
          </a:p>
        </p:txBody>
      </p:sp>
      <p:pic>
        <p:nvPicPr>
          <p:cNvPr id="32" name="Image 0" descr="/home/user/data_governance/presentation/assets/pal_idle.png">    </p:cNvPr>
          <p:cNvPicPr>
            <a:picLocks noChangeAspect="1"/>
          </p:cNvPicPr>
          <p:nvPr/>
        </p:nvPicPr>
        <p:blipFill>
          <a:blip r:embed="rId1"/>
          <a:stretch>
            <a:fillRect/>
          </a:stretch>
        </p:blipFill>
        <p:spPr>
          <a:xfrm>
            <a:off x="10378440" y="5166360"/>
            <a:ext cx="457200" cy="6099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C24"/>
        </a:solidFill>
      </p:bgPr>
    </p:bg>
    <p:spTree>
      <p:nvGrpSpPr>
        <p:cNvPr id="1" name=""/>
        <p:cNvGrpSpPr/>
        <p:nvPr/>
      </p:nvGrpSpPr>
      <p:grpSpPr>
        <a:xfrm>
          <a:off x="0" y="0"/>
          <a:ext cx="0" cy="0"/>
          <a:chOff x="0" y="0"/>
          <a:chExt cx="0" cy="0"/>
        </a:xfrm>
      </p:grpSpPr>
      <p:sp>
        <p:nvSpPr>
          <p:cNvPr id="2" name="Shape 0"/>
          <p:cNvSpPr/>
          <p:nvPr/>
        </p:nvSpPr>
        <p:spPr>
          <a:xfrm>
            <a:off x="822960" y="713232"/>
            <a:ext cx="118872" cy="118872"/>
          </a:xfrm>
          <a:prstGeom prst="rect">
            <a:avLst/>
          </a:prstGeom>
          <a:solidFill>
            <a:srgbClr val="5C8FFF"/>
          </a:solidFill>
          <a:ln w="12700">
            <a:solidFill>
              <a:srgbClr val="333333"/>
            </a:solidFill>
            <a:prstDash val="solid"/>
          </a:ln>
        </p:spPr>
      </p:sp>
      <p:sp>
        <p:nvSpPr>
          <p:cNvPr id="3" name="Shape 1"/>
          <p:cNvSpPr/>
          <p:nvPr/>
        </p:nvSpPr>
        <p:spPr>
          <a:xfrm>
            <a:off x="1005840" y="713232"/>
            <a:ext cx="118872" cy="118872"/>
          </a:xfrm>
          <a:prstGeom prst="rect">
            <a:avLst/>
          </a:prstGeom>
          <a:solidFill>
            <a:srgbClr val="F5C451"/>
          </a:solidFill>
          <a:ln w="12700">
            <a:solidFill>
              <a:srgbClr val="333333"/>
            </a:solidFill>
            <a:prstDash val="solid"/>
          </a:ln>
        </p:spPr>
      </p:sp>
      <p:sp>
        <p:nvSpPr>
          <p:cNvPr id="4" name="Shape 2"/>
          <p:cNvSpPr/>
          <p:nvPr/>
        </p:nvSpPr>
        <p:spPr>
          <a:xfrm>
            <a:off x="1188720" y="713232"/>
            <a:ext cx="118872" cy="118872"/>
          </a:xfrm>
          <a:prstGeom prst="rect">
            <a:avLst/>
          </a:prstGeom>
          <a:solidFill>
            <a:srgbClr val="3DDC97"/>
          </a:solidFill>
          <a:ln w="12700">
            <a:solidFill>
              <a:srgbClr val="333333"/>
            </a:solidFill>
            <a:prstDash val="solid"/>
          </a:ln>
        </p:spPr>
      </p:sp>
      <p:sp>
        <p:nvSpPr>
          <p:cNvPr id="5" name="Text 3"/>
          <p:cNvSpPr/>
          <p:nvPr/>
        </p:nvSpPr>
        <p:spPr>
          <a:xfrm>
            <a:off x="1481328" y="649224"/>
            <a:ext cx="7315200" cy="256032"/>
          </a:xfrm>
          <a:prstGeom prst="rect">
            <a:avLst/>
          </a:prstGeom>
          <a:noFill/>
          <a:ln/>
        </p:spPr>
        <p:txBody>
          <a:bodyPr wrap="square" lIns="0" tIns="0" rIns="0" bIns="0" rtlCol="0" anchor="ctr"/>
          <a:lstStyle/>
          <a:p>
            <a:pPr indent="0" marL="0">
              <a:buNone/>
            </a:pPr>
            <a:r>
              <a:rPr lang="en-US" sz="1150" b="1" spc="220" kern="0" dirty="0">
                <a:solidFill>
                  <a:srgbClr val="F5C451"/>
                </a:solidFill>
                <a:latin typeface="Arial" pitchFamily="34" charset="0"/>
                <a:ea typeface="Arial" pitchFamily="34" charset="-122"/>
                <a:cs typeface="Arial" pitchFamily="34" charset="-120"/>
              </a:rPr>
              <a:t>GETTING STARTED</a:t>
            </a:r>
            <a:endParaRPr lang="en-US" sz="1150" dirty="0"/>
          </a:p>
        </p:txBody>
      </p:sp>
      <p:sp>
        <p:nvSpPr>
          <p:cNvPr id="6" name="Text 4"/>
          <p:cNvSpPr/>
          <p:nvPr/>
        </p:nvSpPr>
        <p:spPr>
          <a:xfrm>
            <a:off x="822960" y="1024128"/>
            <a:ext cx="9601200" cy="6400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Five minutes, three steps</a:t>
            </a:r>
            <a:endParaRPr lang="en-US" sz="4000" dirty="0"/>
          </a:p>
        </p:txBody>
      </p:sp>
      <p:sp>
        <p:nvSpPr>
          <p:cNvPr id="7" name="Shape 5"/>
          <p:cNvSpPr/>
          <p:nvPr/>
        </p:nvSpPr>
        <p:spPr>
          <a:xfrm>
            <a:off x="822960" y="2148840"/>
            <a:ext cx="3200400" cy="2331720"/>
          </a:xfrm>
          <a:prstGeom prst="rect">
            <a:avLst/>
          </a:prstGeom>
          <a:solidFill>
            <a:srgbClr val="262932"/>
          </a:solidFill>
          <a:ln w="12700">
            <a:solidFill>
              <a:srgbClr val="333333"/>
            </a:solidFill>
            <a:prstDash val="solid"/>
          </a:ln>
        </p:spPr>
      </p:sp>
      <p:sp>
        <p:nvSpPr>
          <p:cNvPr id="8" name="Text 6"/>
          <p:cNvSpPr/>
          <p:nvPr/>
        </p:nvSpPr>
        <p:spPr>
          <a:xfrm>
            <a:off x="1188720" y="2377440"/>
            <a:ext cx="1371600" cy="640080"/>
          </a:xfrm>
          <a:prstGeom prst="rect">
            <a:avLst/>
          </a:prstGeom>
          <a:noFill/>
          <a:ln/>
        </p:spPr>
        <p:txBody>
          <a:bodyPr wrap="square" lIns="0" tIns="0" rIns="0" bIns="0" rtlCol="0" anchor="ctr"/>
          <a:lstStyle/>
          <a:p>
            <a:pPr indent="0" marL="0">
              <a:buNone/>
            </a:pPr>
            <a:r>
              <a:rPr lang="en-US" sz="3400" b="1" dirty="0">
                <a:solidFill>
                  <a:srgbClr val="5C8FFF"/>
                </a:solidFill>
                <a:latin typeface="Arial" pitchFamily="34" charset="0"/>
                <a:ea typeface="Arial" pitchFamily="34" charset="-122"/>
                <a:cs typeface="Arial" pitchFamily="34" charset="-120"/>
              </a:rPr>
              <a:t>01</a:t>
            </a:r>
            <a:endParaRPr lang="en-US" sz="3400" dirty="0"/>
          </a:p>
        </p:txBody>
      </p:sp>
      <p:sp>
        <p:nvSpPr>
          <p:cNvPr id="9" name="Text 7"/>
          <p:cNvSpPr/>
          <p:nvPr/>
        </p:nvSpPr>
        <p:spPr>
          <a:xfrm>
            <a:off x="1188720" y="3035808"/>
            <a:ext cx="246888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Install it</a:t>
            </a:r>
            <a:endParaRPr lang="en-US" sz="1700" dirty="0"/>
          </a:p>
        </p:txBody>
      </p:sp>
      <p:sp>
        <p:nvSpPr>
          <p:cNvPr id="10" name="Text 8"/>
          <p:cNvSpPr/>
          <p:nvPr/>
        </p:nvSpPr>
        <p:spPr>
          <a:xfrm>
            <a:off x="1188720" y="3429000"/>
            <a:ext cx="2514600" cy="868680"/>
          </a:xfrm>
          <a:prstGeom prst="rect">
            <a:avLst/>
          </a:prstGeom>
          <a:noFill/>
          <a:ln/>
        </p:spPr>
        <p:txBody>
          <a:bodyPr wrap="square" lIns="0" tIns="0" rIns="0" bIns="0" rtlCol="0" anchor="ctr"/>
          <a:lstStyle/>
          <a:p>
            <a:pPr indent="0" marL="0">
              <a:lnSpc>
                <a:spcPts val="1700"/>
              </a:lnSpc>
              <a:buNone/>
            </a:pPr>
            <a:r>
              <a:rPr lang="en-US" sz="1250" dirty="0">
                <a:solidFill>
                  <a:srgbClr val="C9CCD6"/>
                </a:solidFill>
                <a:latin typeface="Calibri" pitchFamily="34" charset="0"/>
                <a:ea typeface="Calibri" pitchFamily="34" charset="-122"/>
                <a:cs typeface="Calibri" pitchFamily="34" charset="-120"/>
              </a:rPr>
              <a:t>Close the Office apps, download AI365Setup.exe and run it for your own Windows account.</a:t>
            </a:r>
            <a:endParaRPr lang="en-US" sz="1250" dirty="0"/>
          </a:p>
        </p:txBody>
      </p:sp>
      <p:sp>
        <p:nvSpPr>
          <p:cNvPr id="11" name="Shape 9"/>
          <p:cNvSpPr/>
          <p:nvPr/>
        </p:nvSpPr>
        <p:spPr>
          <a:xfrm>
            <a:off x="4480560" y="2148840"/>
            <a:ext cx="3200400" cy="2331720"/>
          </a:xfrm>
          <a:prstGeom prst="rect">
            <a:avLst/>
          </a:prstGeom>
          <a:solidFill>
            <a:srgbClr val="262932"/>
          </a:solidFill>
          <a:ln w="12700">
            <a:solidFill>
              <a:srgbClr val="333333"/>
            </a:solidFill>
            <a:prstDash val="solid"/>
          </a:ln>
        </p:spPr>
      </p:sp>
      <p:sp>
        <p:nvSpPr>
          <p:cNvPr id="12" name="Text 10"/>
          <p:cNvSpPr/>
          <p:nvPr/>
        </p:nvSpPr>
        <p:spPr>
          <a:xfrm>
            <a:off x="4846320" y="2377440"/>
            <a:ext cx="1371600" cy="640080"/>
          </a:xfrm>
          <a:prstGeom prst="rect">
            <a:avLst/>
          </a:prstGeom>
          <a:noFill/>
          <a:ln/>
        </p:spPr>
        <p:txBody>
          <a:bodyPr wrap="square" lIns="0" tIns="0" rIns="0" bIns="0" rtlCol="0" anchor="ctr"/>
          <a:lstStyle/>
          <a:p>
            <a:pPr indent="0" marL="0">
              <a:buNone/>
            </a:pPr>
            <a:r>
              <a:rPr lang="en-US" sz="3400" b="1" dirty="0">
                <a:solidFill>
                  <a:srgbClr val="3DDC97"/>
                </a:solidFill>
                <a:latin typeface="Arial" pitchFamily="34" charset="0"/>
                <a:ea typeface="Arial" pitchFamily="34" charset="-122"/>
                <a:cs typeface="Arial" pitchFamily="34" charset="-120"/>
              </a:rPr>
              <a:t>02</a:t>
            </a:r>
            <a:endParaRPr lang="en-US" sz="3400" dirty="0"/>
          </a:p>
        </p:txBody>
      </p:sp>
      <p:sp>
        <p:nvSpPr>
          <p:cNvPr id="13" name="Text 11"/>
          <p:cNvSpPr/>
          <p:nvPr/>
        </p:nvSpPr>
        <p:spPr>
          <a:xfrm>
            <a:off x="4846320" y="3035808"/>
            <a:ext cx="246888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Point it at a model</a:t>
            </a:r>
            <a:endParaRPr lang="en-US" sz="1700" dirty="0"/>
          </a:p>
        </p:txBody>
      </p:sp>
      <p:sp>
        <p:nvSpPr>
          <p:cNvPr id="14" name="Text 12"/>
          <p:cNvSpPr/>
          <p:nvPr/>
        </p:nvSpPr>
        <p:spPr>
          <a:xfrm>
            <a:off x="4846320" y="3429000"/>
            <a:ext cx="2514600" cy="868680"/>
          </a:xfrm>
          <a:prstGeom prst="rect">
            <a:avLst/>
          </a:prstGeom>
          <a:noFill/>
          <a:ln/>
        </p:spPr>
        <p:txBody>
          <a:bodyPr wrap="square" lIns="0" tIns="0" rIns="0" bIns="0" rtlCol="0" anchor="ctr"/>
          <a:lstStyle/>
          <a:p>
            <a:pPr indent="0" marL="0">
              <a:lnSpc>
                <a:spcPts val="1700"/>
              </a:lnSpc>
              <a:buNone/>
            </a:pPr>
            <a:r>
              <a:rPr lang="en-US" sz="1250" dirty="0">
                <a:solidFill>
                  <a:srgbClr val="C9CCD6"/>
                </a:solidFill>
                <a:latin typeface="Calibri" pitchFamily="34" charset="0"/>
                <a:ea typeface="Calibri" pitchFamily="34" charset="-122"/>
                <a:cs typeface="Calibri" pitchFamily="34" charset="-120"/>
              </a:rPr>
              <a:t>Open Settings, paste in the address of your model, and press Check endpoint.</a:t>
            </a:r>
            <a:endParaRPr lang="en-US" sz="1250" dirty="0"/>
          </a:p>
        </p:txBody>
      </p:sp>
      <p:sp>
        <p:nvSpPr>
          <p:cNvPr id="15" name="Shape 13"/>
          <p:cNvSpPr/>
          <p:nvPr/>
        </p:nvSpPr>
        <p:spPr>
          <a:xfrm>
            <a:off x="8138160" y="2148840"/>
            <a:ext cx="3200400" cy="2331720"/>
          </a:xfrm>
          <a:prstGeom prst="rect">
            <a:avLst/>
          </a:prstGeom>
          <a:solidFill>
            <a:srgbClr val="262932"/>
          </a:solidFill>
          <a:ln w="12700">
            <a:solidFill>
              <a:srgbClr val="333333"/>
            </a:solidFill>
            <a:prstDash val="solid"/>
          </a:ln>
        </p:spPr>
      </p:sp>
      <p:sp>
        <p:nvSpPr>
          <p:cNvPr id="16" name="Text 14"/>
          <p:cNvSpPr/>
          <p:nvPr/>
        </p:nvSpPr>
        <p:spPr>
          <a:xfrm>
            <a:off x="8503920" y="2377440"/>
            <a:ext cx="1371600" cy="640080"/>
          </a:xfrm>
          <a:prstGeom prst="rect">
            <a:avLst/>
          </a:prstGeom>
          <a:noFill/>
          <a:ln/>
        </p:spPr>
        <p:txBody>
          <a:bodyPr wrap="square" lIns="0" tIns="0" rIns="0" bIns="0" rtlCol="0" anchor="ctr"/>
          <a:lstStyle/>
          <a:p>
            <a:pPr indent="0" marL="0">
              <a:buNone/>
            </a:pPr>
            <a:r>
              <a:rPr lang="en-US" sz="3400" b="1" dirty="0">
                <a:solidFill>
                  <a:srgbClr val="F5C451"/>
                </a:solidFill>
                <a:latin typeface="Arial" pitchFamily="34" charset="0"/>
                <a:ea typeface="Arial" pitchFamily="34" charset="-122"/>
                <a:cs typeface="Arial" pitchFamily="34" charset="-120"/>
              </a:rPr>
              <a:t>03</a:t>
            </a:r>
            <a:endParaRPr lang="en-US" sz="3400" dirty="0"/>
          </a:p>
        </p:txBody>
      </p:sp>
      <p:sp>
        <p:nvSpPr>
          <p:cNvPr id="17" name="Text 15"/>
          <p:cNvSpPr/>
          <p:nvPr/>
        </p:nvSpPr>
        <p:spPr>
          <a:xfrm>
            <a:off x="8503920" y="3035808"/>
            <a:ext cx="246888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Ask something</a:t>
            </a:r>
            <a:endParaRPr lang="en-US" sz="1700" dirty="0"/>
          </a:p>
        </p:txBody>
      </p:sp>
      <p:sp>
        <p:nvSpPr>
          <p:cNvPr id="18" name="Text 16"/>
          <p:cNvSpPr/>
          <p:nvPr/>
        </p:nvSpPr>
        <p:spPr>
          <a:xfrm>
            <a:off x="8503920" y="3429000"/>
            <a:ext cx="2514600" cy="868680"/>
          </a:xfrm>
          <a:prstGeom prst="rect">
            <a:avLst/>
          </a:prstGeom>
          <a:noFill/>
          <a:ln/>
        </p:spPr>
        <p:txBody>
          <a:bodyPr wrap="square" lIns="0" tIns="0" rIns="0" bIns="0" rtlCol="0" anchor="ctr"/>
          <a:lstStyle/>
          <a:p>
            <a:pPr indent="0" marL="0">
              <a:lnSpc>
                <a:spcPts val="1700"/>
              </a:lnSpc>
              <a:buNone/>
            </a:pPr>
            <a:r>
              <a:rPr lang="en-US" sz="1250" dirty="0">
                <a:solidFill>
                  <a:srgbClr val="C9CCD6"/>
                </a:solidFill>
                <a:latin typeface="Calibri" pitchFamily="34" charset="0"/>
                <a:ea typeface="Calibri" pitchFamily="34" charset="-122"/>
                <a:cs typeface="Calibri" pitchFamily="34" charset="-120"/>
              </a:rPr>
              <a:t>Click AI365 on the ribbon and type a question, exactly as you would ask a colleague.</a:t>
            </a:r>
            <a:endParaRPr lang="en-US" sz="1250" dirty="0"/>
          </a:p>
        </p:txBody>
      </p:sp>
      <p:pic>
        <p:nvPicPr>
          <p:cNvPr id="19" name="Image 0" descr="/home/user/data_governance/presentation/assets/pal_wave.png">    </p:cNvPr>
          <p:cNvPicPr>
            <a:picLocks noChangeAspect="1"/>
          </p:cNvPicPr>
          <p:nvPr/>
        </p:nvPicPr>
        <p:blipFill>
          <a:blip r:embed="rId1"/>
          <a:stretch>
            <a:fillRect/>
          </a:stretch>
        </p:blipFill>
        <p:spPr>
          <a:xfrm>
            <a:off x="822960" y="4937760"/>
            <a:ext cx="754380" cy="1005840"/>
          </a:xfrm>
          <a:prstGeom prst="rect">
            <a:avLst/>
          </a:prstGeom>
        </p:spPr>
      </p:pic>
      <p:sp>
        <p:nvSpPr>
          <p:cNvPr id="20" name="Text 17"/>
          <p:cNvSpPr/>
          <p:nvPr/>
        </p:nvSpPr>
        <p:spPr>
          <a:xfrm>
            <a:off x="1783080" y="5029200"/>
            <a:ext cx="548640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github.com/datap0nd/ai365</a:t>
            </a:r>
            <a:endParaRPr lang="en-US" sz="1900" dirty="0"/>
          </a:p>
        </p:txBody>
      </p:sp>
      <p:sp>
        <p:nvSpPr>
          <p:cNvPr id="21" name="Text 18"/>
          <p:cNvSpPr/>
          <p:nvPr/>
        </p:nvSpPr>
        <p:spPr>
          <a:xfrm>
            <a:off x="1783080" y="5440680"/>
            <a:ext cx="6400800" cy="365760"/>
          </a:xfrm>
          <a:prstGeom prst="rect">
            <a:avLst/>
          </a:prstGeom>
          <a:noFill/>
          <a:ln/>
        </p:spPr>
        <p:txBody>
          <a:bodyPr wrap="square" lIns="0" tIns="0" rIns="0" bIns="0" rtlCol="0" anchor="ctr"/>
          <a:lstStyle/>
          <a:p>
            <a:pPr indent="0" marL="0">
              <a:buNone/>
            </a:pPr>
            <a:r>
              <a:rPr lang="en-US" sz="1300" dirty="0">
                <a:solidFill>
                  <a:srgbClr val="9096A3"/>
                </a:solidFill>
                <a:latin typeface="Calibri" pitchFamily="34" charset="0"/>
                <a:ea typeface="Calibri" pitchFamily="34" charset="-122"/>
                <a:cs typeface="Calibri" pitchFamily="34" charset="-120"/>
              </a:rPr>
              <a:t>Open source, MIT licensed, rebuilt on every change.</a:t>
            </a:r>
            <a:endParaRPr lang="en-US" sz="1300" dirty="0"/>
          </a:p>
        </p:txBody>
      </p:sp>
      <p:sp>
        <p:nvSpPr>
          <p:cNvPr id="22" name="Text 19"/>
          <p:cNvSpPr/>
          <p:nvPr/>
        </p:nvSpPr>
        <p:spPr>
          <a:xfrm>
            <a:off x="7223760" y="5257800"/>
            <a:ext cx="4114800" cy="411480"/>
          </a:xfrm>
          <a:prstGeom prst="rect">
            <a:avLst/>
          </a:prstGeom>
          <a:noFill/>
          <a:ln/>
        </p:spPr>
        <p:txBody>
          <a:bodyPr wrap="square" lIns="0" tIns="0" rIns="0" bIns="0" rtlCol="0" anchor="ctr"/>
          <a:lstStyle/>
          <a:p>
            <a:pPr algn="r" indent="0" marL="0">
              <a:buNone/>
            </a:pPr>
            <a:r>
              <a:rPr lang="en-US" sz="1250" dirty="0">
                <a:solidFill>
                  <a:srgbClr val="9096A3"/>
                </a:solidFill>
                <a:latin typeface="Calibri" pitchFamily="34" charset="0"/>
                <a:ea typeface="Calibri" pitchFamily="34" charset="-122"/>
                <a:cs typeface="Calibri" pitchFamily="34" charset="-120"/>
              </a:rPr>
              <a:t>Windows · classic Office 2021</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AI365 - Scribble</dc:title>
  <dc:subject>PptxGenJS Presentation</dc:subject>
  <dc:creator>AI365</dc:creator>
  <cp:lastModifiedBy>AI365</cp:lastModifiedBy>
  <cp:revision>1</cp:revision>
  <dcterms:created xsi:type="dcterms:W3CDTF">2026-08-25T12:04:31Z</dcterms:created>
  <dcterms:modified xsi:type="dcterms:W3CDTF">2026-08-25T12:04:31Z</dcterms:modified>
</cp:coreProperties>
</file>